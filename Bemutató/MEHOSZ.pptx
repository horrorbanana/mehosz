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notesMasterIdLst>
    <p:notesMasterId r:id="rId35"/>
  </p:notesMasterIdLst>
  <p:sldIdLst>
    <p:sldId id="256" r:id="rId2"/>
    <p:sldId id="262" r:id="rId3"/>
    <p:sldId id="261" r:id="rId4"/>
    <p:sldId id="277" r:id="rId5"/>
    <p:sldId id="276" r:id="rId6"/>
    <p:sldId id="278" r:id="rId7"/>
    <p:sldId id="280" r:id="rId8"/>
    <p:sldId id="279" r:id="rId9"/>
    <p:sldId id="260" r:id="rId10"/>
    <p:sldId id="263" r:id="rId11"/>
    <p:sldId id="264" r:id="rId12"/>
    <p:sldId id="265" r:id="rId13"/>
    <p:sldId id="303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5" r:id="rId22"/>
    <p:sldId id="286" r:id="rId23"/>
    <p:sldId id="302" r:id="rId24"/>
    <p:sldId id="291" r:id="rId25"/>
    <p:sldId id="294" r:id="rId26"/>
    <p:sldId id="295" r:id="rId27"/>
    <p:sldId id="296" r:id="rId28"/>
    <p:sldId id="297" r:id="rId29"/>
    <p:sldId id="289" r:id="rId30"/>
    <p:sldId id="300" r:id="rId31"/>
    <p:sldId id="301" r:id="rId32"/>
    <p:sldId id="285" r:id="rId33"/>
    <p:sldId id="282" r:id="rId34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5548"/>
    <a:srgbClr val="2ECC71"/>
    <a:srgbClr val="9B59B6"/>
    <a:srgbClr val="F1C40F"/>
    <a:srgbClr val="3498DB"/>
    <a:srgbClr val="3B82F6"/>
    <a:srgbClr val="F1F5F9"/>
    <a:srgbClr val="93C5FD"/>
    <a:srgbClr val="1E293B"/>
    <a:srgbClr val="8BEF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29" autoAdjust="0"/>
    <p:restoredTop sz="94660"/>
  </p:normalViewPr>
  <p:slideViewPr>
    <p:cSldViewPr snapToGrid="0">
      <p:cViewPr varScale="1">
        <p:scale>
          <a:sx n="78" d="100"/>
          <a:sy n="78" d="100"/>
        </p:scale>
        <p:origin x="43" y="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341C27-E3B9-45A9-A72A-E450E42FCF5D}" type="datetimeFigureOut">
              <a:rPr lang="hu-HU" smtClean="0"/>
              <a:t>2026. 03. 17.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8375B6-F2B4-4589-80F4-5C8592918BE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96728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375B6-F2B4-4589-80F4-5C8592918BEB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9039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9507A-AC07-1572-4F5A-E1B1B0A84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21F381D4-7CC2-2672-6A71-2EB5D5F350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0DE6EE8C-CC9B-B9D9-3623-AE16733570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B5E7723-90AC-A891-85CA-9A6541D3D3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375B6-F2B4-4589-80F4-5C8592918BEB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32112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66576-F2E7-E860-E13C-B6E2BBA58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981ED3DD-7036-5405-A68C-D6B829A008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77F65079-D8FC-99E8-EABD-F8D13391C6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469933AB-8722-9904-ADA7-A09400E3A7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375B6-F2B4-4589-80F4-5C8592918BEB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042699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049E4-4CE9-6148-302C-340A7B3A1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D07D1B92-D2E3-3499-12A6-B4062391AB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486AA169-672C-98E6-2A5E-36B7966A1B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00254C7-1D18-E0AF-3EE2-E61CA045DF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375B6-F2B4-4589-80F4-5C8592918BEB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6160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BAE10-18B1-C7AD-4FFC-1433689BB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766C3811-B8EE-2E67-CC1C-25359A73F7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A96ABA24-6273-F2C2-8BE9-097E806615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A81109F-490B-CAF3-71AC-DD7A5BB821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375B6-F2B4-4589-80F4-5C8592918BEB}" type="slidenum">
              <a:rPr lang="hu-HU" smtClean="0"/>
              <a:t>23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5945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558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267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987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718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18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406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212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978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193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904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791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398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notesSlide" Target="../notesSlides/notesSlide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Kép 24" descr="A képen kültéri, táj, felhő, é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610FD7F2-F8B6-B310-B437-C561D4D87E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2201" b="3529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D29A027E-1341-ACEA-D7DD-2EB988478F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hu-HU" sz="5400" dirty="0">
                <a:solidFill>
                  <a:srgbClr val="FFFFFF"/>
                </a:solidFill>
              </a:rPr>
              <a:t>MEHOSZ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097B8C6-7CE1-3889-22C7-702DC423F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414091"/>
          </a:xfrm>
        </p:spPr>
        <p:txBody>
          <a:bodyPr>
            <a:normAutofit/>
          </a:bodyPr>
          <a:lstStyle/>
          <a:p>
            <a:r>
              <a:rPr lang="hu-HU" sz="2200">
                <a:solidFill>
                  <a:srgbClr val="FFFFFF"/>
                </a:solidFill>
              </a:rPr>
              <a:t>Készítette: </a:t>
            </a:r>
            <a:r>
              <a:rPr lang="hu-HU" sz="2200" dirty="0">
                <a:solidFill>
                  <a:srgbClr val="FFFFFF"/>
                </a:solidFill>
              </a:rPr>
              <a:t>Koszta Máté és Gecsey Botond</a:t>
            </a:r>
          </a:p>
        </p:txBody>
      </p:sp>
    </p:spTree>
    <p:extLst>
      <p:ext uri="{BB962C8B-B14F-4D97-AF65-F5344CB8AC3E}">
        <p14:creationId xmlns:p14="http://schemas.microsoft.com/office/powerpoint/2010/main" val="2182758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06A4A8-F2F9-D3DE-2FE7-B89E8A3B7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31F90BB-E2D1-ED9B-E249-FE1A90C05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2CF85C3-3529-156D-FF1D-CBE0A8BE6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0069" y="427196"/>
            <a:ext cx="4361693" cy="1527049"/>
          </a:xfrm>
        </p:spPr>
        <p:txBody>
          <a:bodyPr anchor="b">
            <a:normAutofit/>
          </a:bodyPr>
          <a:lstStyle/>
          <a:p>
            <a:r>
              <a:rPr lang="hu-HU" sz="3300" dirty="0"/>
              <a:t>Probléma meghatározása</a:t>
            </a:r>
            <a:br>
              <a:rPr lang="hu-HU" sz="3300" dirty="0"/>
            </a:br>
            <a:endParaRPr lang="hu-HU" sz="3300" dirty="0"/>
          </a:p>
        </p:txBody>
      </p:sp>
      <p:pic>
        <p:nvPicPr>
          <p:cNvPr id="6" name="Kép 5" descr="A képen szöveg, embléma, Grafika, Betűtípu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1A178AA1-9CF7-64FA-AC28-187664FF27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00" r="3466"/>
          <a:stretch>
            <a:fillRect/>
          </a:stretch>
        </p:blipFill>
        <p:spPr>
          <a:xfrm>
            <a:off x="266701" y="-257165"/>
            <a:ext cx="6373368" cy="6857990"/>
          </a:xfrm>
          <a:prstGeom prst="rect">
            <a:avLst/>
          </a:prstGeom>
        </p:spPr>
      </p:pic>
      <p:sp>
        <p:nvSpPr>
          <p:cNvPr id="3" name="Tartalom helye 2">
            <a:extLst>
              <a:ext uri="{FF2B5EF4-FFF2-40B4-BE49-F238E27FC236}">
                <a16:creationId xmlns:a16="http://schemas.microsoft.com/office/drawing/2014/main" id="{AE166D83-9E78-8207-678C-2612BC4A0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7707" y="1847516"/>
            <a:ext cx="4282474" cy="4096514"/>
          </a:xfrm>
        </p:spPr>
        <p:txBody>
          <a:bodyPr>
            <a:normAutofit/>
          </a:bodyPr>
          <a:lstStyle/>
          <a:p>
            <a:r>
              <a:rPr lang="hu-HU" dirty="0"/>
              <a:t>Anyagi kockázat</a:t>
            </a:r>
          </a:p>
          <a:p>
            <a:r>
              <a:rPr lang="hu-HU" dirty="0"/>
              <a:t>Rossz termelés eloszlás</a:t>
            </a:r>
          </a:p>
          <a:p>
            <a:r>
              <a:rPr lang="hu-HU" dirty="0"/>
              <a:t>Nem megfelelő vetési és termelési stratégiákból adódó veszteségek</a:t>
            </a:r>
          </a:p>
          <a:p>
            <a:r>
              <a:rPr lang="hu-HU" dirty="0"/>
              <a:t>Bizonytalan hozam</a:t>
            </a:r>
          </a:p>
          <a:p>
            <a:r>
              <a:rPr lang="hu-HU" dirty="0"/>
              <a:t>Megalapozatlan döntés</a:t>
            </a:r>
          </a:p>
          <a:p>
            <a:endParaRPr lang="hu-HU" sz="1800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3DBDCF3A-FD6E-5D18-EC21-ACB621E47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8114" y="3209915"/>
            <a:ext cx="5857875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628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F26662-7F57-967F-9492-D168AA4EA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FD46668-111D-49A3-9535-DF924D187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52835C6-D372-C0DF-FC98-21F50F303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0069" y="428622"/>
            <a:ext cx="4361693" cy="1527049"/>
          </a:xfrm>
        </p:spPr>
        <p:txBody>
          <a:bodyPr anchor="b">
            <a:normAutofit/>
          </a:bodyPr>
          <a:lstStyle/>
          <a:p>
            <a:r>
              <a:rPr lang="hu-HU" sz="3300" dirty="0"/>
              <a:t>Mezőgazdasági hozamszámító</a:t>
            </a:r>
            <a:br>
              <a:rPr lang="hu-HU" sz="3300" dirty="0"/>
            </a:br>
            <a:endParaRPr lang="hu-HU" sz="3300" dirty="0"/>
          </a:p>
        </p:txBody>
      </p:sp>
      <p:pic>
        <p:nvPicPr>
          <p:cNvPr id="6" name="Kép 5" descr="A képen szöveg, embléma, Grafika, Betűtípu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3321FACA-C9B2-C4AB-9DC2-2B5175A3A0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00" r="3466"/>
          <a:stretch>
            <a:fillRect/>
          </a:stretch>
        </p:blipFill>
        <p:spPr>
          <a:xfrm>
            <a:off x="266701" y="-257165"/>
            <a:ext cx="6373368" cy="6857990"/>
          </a:xfrm>
          <a:prstGeom prst="rect">
            <a:avLst/>
          </a:prstGeom>
        </p:spPr>
      </p:pic>
      <p:sp>
        <p:nvSpPr>
          <p:cNvPr id="3" name="Tartalom helye 2">
            <a:extLst>
              <a:ext uri="{FF2B5EF4-FFF2-40B4-BE49-F238E27FC236}">
                <a16:creationId xmlns:a16="http://schemas.microsoft.com/office/drawing/2014/main" id="{1EB115FD-3A86-2E59-A193-4B4ED7746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5358" y="1806317"/>
            <a:ext cx="4361693" cy="4096514"/>
          </a:xfrm>
        </p:spPr>
        <p:txBody>
          <a:bodyPr>
            <a:normAutofit/>
          </a:bodyPr>
          <a:lstStyle/>
          <a:p>
            <a:r>
              <a:rPr lang="hu-HU" sz="1800" dirty="0"/>
              <a:t>A projektünk egy webes applikáció fejlesztése, amely segít kiszámolni a magyaroroszági gazdáknak a jövő év lehetséges hozamát.</a:t>
            </a:r>
          </a:p>
          <a:p>
            <a:r>
              <a:rPr lang="hu-HU" sz="1800" dirty="0"/>
              <a:t> A gazdák gyakran tanácstalanok a következő évi tervekkel kapcsolatban, a projektünk pedig erre nyújt egy kézenfekvő megoldást. </a:t>
            </a:r>
          </a:p>
          <a:p>
            <a:endParaRPr lang="hu-HU" sz="1800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8944C95A-0A90-C6E3-1E6F-B8EBCAF5E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8114" y="3209915"/>
            <a:ext cx="5857875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812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25B66C-039E-83E3-24F9-D4684C5F6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6EF04AE-5A0A-E2EA-8F14-2D3C920D7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DEFD1E1-CE3B-A24B-D91C-15863186A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961" y="575750"/>
            <a:ext cx="5388077" cy="1527049"/>
          </a:xfrm>
        </p:spPr>
        <p:txBody>
          <a:bodyPr anchor="b">
            <a:normAutofit/>
          </a:bodyPr>
          <a:lstStyle/>
          <a:p>
            <a:r>
              <a:rPr lang="hu-HU" sz="3300" dirty="0"/>
              <a:t>Felhasznált technológiák</a:t>
            </a:r>
            <a:br>
              <a:rPr lang="hu-HU" sz="3300" dirty="0"/>
            </a:br>
            <a:endParaRPr lang="hu-HU" sz="3300" dirty="0"/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31A8E5C5-C383-CCA5-F753-5DC8B85BC7BE}"/>
              </a:ext>
            </a:extLst>
          </p:cNvPr>
          <p:cNvSpPr/>
          <p:nvPr/>
        </p:nvSpPr>
        <p:spPr>
          <a:xfrm>
            <a:off x="1307690" y="2258456"/>
            <a:ext cx="2654710" cy="1209367"/>
          </a:xfrm>
          <a:prstGeom prst="roundRect">
            <a:avLst/>
          </a:prstGeom>
          <a:solidFill>
            <a:srgbClr val="E38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: lekerekített 13">
            <a:extLst>
              <a:ext uri="{FF2B5EF4-FFF2-40B4-BE49-F238E27FC236}">
                <a16:creationId xmlns:a16="http://schemas.microsoft.com/office/drawing/2014/main" id="{0E6802ED-B340-1C7B-BAB0-02DDAA865A46}"/>
              </a:ext>
            </a:extLst>
          </p:cNvPr>
          <p:cNvSpPr/>
          <p:nvPr/>
        </p:nvSpPr>
        <p:spPr>
          <a:xfrm>
            <a:off x="6800197" y="2180627"/>
            <a:ext cx="3187684" cy="1209367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 w="28575">
            <a:solidFill>
              <a:srgbClr val="E38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: lekerekített 14">
            <a:extLst>
              <a:ext uri="{FF2B5EF4-FFF2-40B4-BE49-F238E27FC236}">
                <a16:creationId xmlns:a16="http://schemas.microsoft.com/office/drawing/2014/main" id="{C06E1E29-E74F-951B-EDB9-4F7E135077D6}"/>
              </a:ext>
            </a:extLst>
          </p:cNvPr>
          <p:cNvSpPr/>
          <p:nvPr/>
        </p:nvSpPr>
        <p:spPr>
          <a:xfrm>
            <a:off x="6800197" y="5182847"/>
            <a:ext cx="3187684" cy="1209367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28575">
            <a:solidFill>
              <a:srgbClr val="BE46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C2D7314C-DB19-B086-BD5A-A302F4CF40D6}"/>
              </a:ext>
            </a:extLst>
          </p:cNvPr>
          <p:cNvSpPr/>
          <p:nvPr/>
        </p:nvSpPr>
        <p:spPr>
          <a:xfrm>
            <a:off x="6800197" y="3737858"/>
            <a:ext cx="3187684" cy="1209367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 w="28575">
            <a:solidFill>
              <a:srgbClr val="69A2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Cím 1">
            <a:extLst>
              <a:ext uri="{FF2B5EF4-FFF2-40B4-BE49-F238E27FC236}">
                <a16:creationId xmlns:a16="http://schemas.microsoft.com/office/drawing/2014/main" id="{1A75A51B-C814-7222-F827-320CD7CBEA87}"/>
              </a:ext>
            </a:extLst>
          </p:cNvPr>
          <p:cNvSpPr txBox="1">
            <a:spLocks/>
          </p:cNvSpPr>
          <p:nvPr/>
        </p:nvSpPr>
        <p:spPr>
          <a:xfrm>
            <a:off x="1553497" y="1955671"/>
            <a:ext cx="2585884" cy="12093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3300" dirty="0">
                <a:solidFill>
                  <a:schemeClr val="bg1"/>
                </a:solidFill>
              </a:rPr>
              <a:t>Adatbázis</a:t>
            </a:r>
          </a:p>
        </p:txBody>
      </p:sp>
      <p:grpSp>
        <p:nvGrpSpPr>
          <p:cNvPr id="3" name="Csoportba foglalás 2">
            <a:extLst>
              <a:ext uri="{FF2B5EF4-FFF2-40B4-BE49-F238E27FC236}">
                <a16:creationId xmlns:a16="http://schemas.microsoft.com/office/drawing/2014/main" id="{14F8A44F-F21D-446B-AF64-72D314D02B9E}"/>
              </a:ext>
            </a:extLst>
          </p:cNvPr>
          <p:cNvGrpSpPr/>
          <p:nvPr/>
        </p:nvGrpSpPr>
        <p:grpSpPr>
          <a:xfrm>
            <a:off x="1307690" y="4931533"/>
            <a:ext cx="2831691" cy="1460682"/>
            <a:chOff x="-251066" y="3510063"/>
            <a:chExt cx="2831691" cy="1460682"/>
          </a:xfrm>
        </p:grpSpPr>
        <p:sp>
          <p:nvSpPr>
            <p:cNvPr id="12" name="Téglalap: lekerekített 11">
              <a:extLst>
                <a:ext uri="{FF2B5EF4-FFF2-40B4-BE49-F238E27FC236}">
                  <a16:creationId xmlns:a16="http://schemas.microsoft.com/office/drawing/2014/main" id="{FAD6A6BF-3B9E-45C2-9C48-0D9F3E3A9DD8}"/>
                </a:ext>
              </a:extLst>
            </p:cNvPr>
            <p:cNvSpPr/>
            <p:nvPr/>
          </p:nvSpPr>
          <p:spPr>
            <a:xfrm>
              <a:off x="-251066" y="3761378"/>
              <a:ext cx="2654710" cy="1209367"/>
            </a:xfrm>
            <a:prstGeom prst="roundRect">
              <a:avLst/>
            </a:prstGeom>
            <a:solidFill>
              <a:srgbClr val="BE46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" name="Cím 1">
              <a:extLst>
                <a:ext uri="{FF2B5EF4-FFF2-40B4-BE49-F238E27FC236}">
                  <a16:creationId xmlns:a16="http://schemas.microsoft.com/office/drawing/2014/main" id="{1F7FCD33-3F52-7454-8811-E0FDDCBBB6D6}"/>
                </a:ext>
              </a:extLst>
            </p:cNvPr>
            <p:cNvSpPr txBox="1">
              <a:spLocks/>
            </p:cNvSpPr>
            <p:nvPr/>
          </p:nvSpPr>
          <p:spPr>
            <a:xfrm>
              <a:off x="-5259" y="3510063"/>
              <a:ext cx="2585884" cy="1209367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hu-HU" sz="3300" dirty="0">
                  <a:solidFill>
                    <a:schemeClr val="bg1"/>
                  </a:solidFill>
                </a:rPr>
                <a:t>Frontend</a:t>
              </a:r>
            </a:p>
          </p:txBody>
        </p:sp>
      </p:grpSp>
      <p:grpSp>
        <p:nvGrpSpPr>
          <p:cNvPr id="6" name="Csoportba foglalás 5">
            <a:extLst>
              <a:ext uri="{FF2B5EF4-FFF2-40B4-BE49-F238E27FC236}">
                <a16:creationId xmlns:a16="http://schemas.microsoft.com/office/drawing/2014/main" id="{B22ECE75-80A7-70AE-C03E-F8B450ABE3C3}"/>
              </a:ext>
            </a:extLst>
          </p:cNvPr>
          <p:cNvGrpSpPr/>
          <p:nvPr/>
        </p:nvGrpSpPr>
        <p:grpSpPr>
          <a:xfrm>
            <a:off x="1307690" y="3452130"/>
            <a:ext cx="2831691" cy="1495096"/>
            <a:chOff x="1307690" y="4962919"/>
            <a:chExt cx="2831691" cy="1495096"/>
          </a:xfrm>
        </p:grpSpPr>
        <p:sp>
          <p:nvSpPr>
            <p:cNvPr id="4" name="Téglalap: lekerekített 3">
              <a:extLst>
                <a:ext uri="{FF2B5EF4-FFF2-40B4-BE49-F238E27FC236}">
                  <a16:creationId xmlns:a16="http://schemas.microsoft.com/office/drawing/2014/main" id="{1FF16C0E-90D0-E5EA-63F6-12CBE3F6FABF}"/>
                </a:ext>
              </a:extLst>
            </p:cNvPr>
            <p:cNvSpPr/>
            <p:nvPr/>
          </p:nvSpPr>
          <p:spPr>
            <a:xfrm>
              <a:off x="1307690" y="5248648"/>
              <a:ext cx="2654710" cy="1209367"/>
            </a:xfrm>
            <a:prstGeom prst="roundRect">
              <a:avLst/>
            </a:prstGeom>
            <a:solidFill>
              <a:srgbClr val="69A2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" name="Cím 1">
              <a:extLst>
                <a:ext uri="{FF2B5EF4-FFF2-40B4-BE49-F238E27FC236}">
                  <a16:creationId xmlns:a16="http://schemas.microsoft.com/office/drawing/2014/main" id="{22BE4DB5-6A62-57E7-2527-E91916D1B60F}"/>
                </a:ext>
              </a:extLst>
            </p:cNvPr>
            <p:cNvSpPr txBox="1">
              <a:spLocks/>
            </p:cNvSpPr>
            <p:nvPr/>
          </p:nvSpPr>
          <p:spPr>
            <a:xfrm>
              <a:off x="1553497" y="4962919"/>
              <a:ext cx="2585884" cy="1209367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hu-HU" sz="3300" dirty="0">
                  <a:solidFill>
                    <a:schemeClr val="bg1"/>
                  </a:solidFill>
                </a:rPr>
                <a:t>Backend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265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8D045A-C7DF-2F45-404B-10386AEEC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AC3CE90-6824-68BA-310D-3B402C81F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806B228-9460-EF0A-F4A7-6D3A96147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961" y="575750"/>
            <a:ext cx="5388077" cy="1527049"/>
          </a:xfrm>
        </p:spPr>
        <p:txBody>
          <a:bodyPr anchor="b">
            <a:normAutofit/>
          </a:bodyPr>
          <a:lstStyle/>
          <a:p>
            <a:r>
              <a:rPr lang="hu-HU" sz="3300" dirty="0"/>
              <a:t>Fejlesztési környezetek</a:t>
            </a:r>
            <a:br>
              <a:rPr lang="hu-HU" sz="3300" dirty="0"/>
            </a:br>
            <a:endParaRPr lang="hu-HU" sz="3300" dirty="0"/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36F39FED-B2DC-D88F-CDF7-B4EE638807E4}"/>
              </a:ext>
            </a:extLst>
          </p:cNvPr>
          <p:cNvSpPr/>
          <p:nvPr/>
        </p:nvSpPr>
        <p:spPr>
          <a:xfrm>
            <a:off x="855745" y="2180625"/>
            <a:ext cx="4872394" cy="4321020"/>
          </a:xfrm>
          <a:prstGeom prst="roundRect">
            <a:avLst/>
          </a:prstGeom>
          <a:solidFill>
            <a:srgbClr val="E38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: lekerekített 13">
            <a:extLst>
              <a:ext uri="{FF2B5EF4-FFF2-40B4-BE49-F238E27FC236}">
                <a16:creationId xmlns:a16="http://schemas.microsoft.com/office/drawing/2014/main" id="{E1C53211-5C4D-C7BF-73AC-5274E32C019A}"/>
              </a:ext>
            </a:extLst>
          </p:cNvPr>
          <p:cNvSpPr/>
          <p:nvPr/>
        </p:nvSpPr>
        <p:spPr>
          <a:xfrm>
            <a:off x="6364866" y="2180626"/>
            <a:ext cx="4971389" cy="4321019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28575">
            <a:solidFill>
              <a:srgbClr val="E38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Cím 1">
            <a:extLst>
              <a:ext uri="{FF2B5EF4-FFF2-40B4-BE49-F238E27FC236}">
                <a16:creationId xmlns:a16="http://schemas.microsoft.com/office/drawing/2014/main" id="{1D2F4774-031A-8336-1577-1760A88F17A7}"/>
              </a:ext>
            </a:extLst>
          </p:cNvPr>
          <p:cNvSpPr txBox="1">
            <a:spLocks/>
          </p:cNvSpPr>
          <p:nvPr/>
        </p:nvSpPr>
        <p:spPr>
          <a:xfrm>
            <a:off x="1251238" y="2007564"/>
            <a:ext cx="4081408" cy="37114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2800" dirty="0">
                <a:solidFill>
                  <a:schemeClr val="bg1"/>
                </a:solidFill>
              </a:rPr>
              <a:t>Adatbázis tervezését követően, létrehoztunk egy UML ábrát, majd létrehoztuk az adatbázisunkat XAMPP segítségével.</a:t>
            </a:r>
          </a:p>
        </p:txBody>
      </p:sp>
    </p:spTree>
    <p:extLst>
      <p:ext uri="{BB962C8B-B14F-4D97-AF65-F5344CB8AC3E}">
        <p14:creationId xmlns:p14="http://schemas.microsoft.com/office/powerpoint/2010/main" val="25384271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2728CD-6F47-9AA3-14B7-7C7C3C70F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FD1C72E-3724-3470-D00C-D00348474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0A626DF-D19A-C49B-B6F6-E2AFB94F4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961" y="575750"/>
            <a:ext cx="5388077" cy="1527049"/>
          </a:xfrm>
        </p:spPr>
        <p:txBody>
          <a:bodyPr anchor="b">
            <a:normAutofit/>
          </a:bodyPr>
          <a:lstStyle/>
          <a:p>
            <a:r>
              <a:rPr lang="hu-HU" sz="3300" dirty="0"/>
              <a:t>Fejlesztési környezetek</a:t>
            </a:r>
            <a:br>
              <a:rPr lang="hu-HU" sz="3300" dirty="0"/>
            </a:br>
            <a:endParaRPr lang="hu-HU" sz="3300" dirty="0"/>
          </a:p>
        </p:txBody>
      </p:sp>
      <p:sp>
        <p:nvSpPr>
          <p:cNvPr id="14" name="Téglalap: lekerekített 13">
            <a:extLst>
              <a:ext uri="{FF2B5EF4-FFF2-40B4-BE49-F238E27FC236}">
                <a16:creationId xmlns:a16="http://schemas.microsoft.com/office/drawing/2014/main" id="{FC741B41-0FDB-A17E-001A-D28D7FBC34AF}"/>
              </a:ext>
            </a:extLst>
          </p:cNvPr>
          <p:cNvSpPr/>
          <p:nvPr/>
        </p:nvSpPr>
        <p:spPr>
          <a:xfrm>
            <a:off x="861850" y="3349884"/>
            <a:ext cx="11330150" cy="2793971"/>
          </a:xfrm>
          <a:prstGeom prst="roundRect">
            <a:avLst>
              <a:gd name="adj" fmla="val 9793"/>
            </a:avLst>
          </a:prstGeom>
          <a:blipFill>
            <a:blip r:embed="rId3"/>
            <a:stretch>
              <a:fillRect/>
            </a:stretch>
          </a:blipFill>
          <a:ln w="28575">
            <a:solidFill>
              <a:srgbClr val="E38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Cím 1">
            <a:extLst>
              <a:ext uri="{FF2B5EF4-FFF2-40B4-BE49-F238E27FC236}">
                <a16:creationId xmlns:a16="http://schemas.microsoft.com/office/drawing/2014/main" id="{7D4D37F0-3AA1-E9D5-C594-EE72ADE997BF}"/>
              </a:ext>
            </a:extLst>
          </p:cNvPr>
          <p:cNvSpPr txBox="1">
            <a:spLocks/>
          </p:cNvSpPr>
          <p:nvPr/>
        </p:nvSpPr>
        <p:spPr>
          <a:xfrm>
            <a:off x="1059509" y="2332028"/>
            <a:ext cx="4290260" cy="37114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hu-HU" sz="3300" dirty="0">
              <a:solidFill>
                <a:schemeClr val="bg1"/>
              </a:solidFill>
            </a:endParaRPr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7485FDCE-2420-74DA-6EE8-4836379DB547}"/>
              </a:ext>
            </a:extLst>
          </p:cNvPr>
          <p:cNvSpPr/>
          <p:nvPr/>
        </p:nvSpPr>
        <p:spPr>
          <a:xfrm>
            <a:off x="8013290" y="1822836"/>
            <a:ext cx="4117789" cy="4321020"/>
          </a:xfrm>
          <a:prstGeom prst="roundRect">
            <a:avLst>
              <a:gd name="adj" fmla="val 0"/>
            </a:avLst>
          </a:prstGeom>
          <a:blipFill>
            <a:blip r:embed="rId4"/>
            <a:stretch>
              <a:fillRect/>
            </a:stretch>
          </a:blipFill>
          <a:ln w="28575">
            <a:solidFill>
              <a:srgbClr val="E38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37945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7505BC-D002-402D-3D2A-4643793E4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225D128-1A3D-9288-8E1C-96EA3B6A3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50E473E-4297-930F-3F51-480E0BD2F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961" y="575750"/>
            <a:ext cx="5388077" cy="1527049"/>
          </a:xfrm>
        </p:spPr>
        <p:txBody>
          <a:bodyPr anchor="b">
            <a:normAutofit/>
          </a:bodyPr>
          <a:lstStyle/>
          <a:p>
            <a:r>
              <a:rPr lang="hu-HU" sz="3300" dirty="0"/>
              <a:t>Fejlesztési környezetek</a:t>
            </a:r>
            <a:br>
              <a:rPr lang="hu-HU" sz="3300" dirty="0"/>
            </a:br>
            <a:endParaRPr lang="hu-HU" sz="3300" dirty="0"/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AA4C6199-2360-DFB0-F867-5AAE200DBE72}"/>
              </a:ext>
            </a:extLst>
          </p:cNvPr>
          <p:cNvSpPr/>
          <p:nvPr/>
        </p:nvSpPr>
        <p:spPr>
          <a:xfrm>
            <a:off x="768442" y="2180626"/>
            <a:ext cx="4872394" cy="4321020"/>
          </a:xfrm>
          <a:prstGeom prst="roundRect">
            <a:avLst/>
          </a:prstGeom>
          <a:solidFill>
            <a:srgbClr val="69A2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4" name="Téglalap: lekerekített 13">
            <a:extLst>
              <a:ext uri="{FF2B5EF4-FFF2-40B4-BE49-F238E27FC236}">
                <a16:creationId xmlns:a16="http://schemas.microsoft.com/office/drawing/2014/main" id="{6C051C42-22B3-A332-B5B3-E806BDC39546}"/>
              </a:ext>
            </a:extLst>
          </p:cNvPr>
          <p:cNvSpPr/>
          <p:nvPr/>
        </p:nvSpPr>
        <p:spPr>
          <a:xfrm>
            <a:off x="6304343" y="2180626"/>
            <a:ext cx="4971389" cy="4321019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28575">
            <a:solidFill>
              <a:srgbClr val="69A2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Cím 1">
            <a:extLst>
              <a:ext uri="{FF2B5EF4-FFF2-40B4-BE49-F238E27FC236}">
                <a16:creationId xmlns:a16="http://schemas.microsoft.com/office/drawing/2014/main" id="{DDCFDD0F-8F80-5FD9-B99E-8E200D5423CA}"/>
              </a:ext>
            </a:extLst>
          </p:cNvPr>
          <p:cNvSpPr txBox="1">
            <a:spLocks/>
          </p:cNvSpPr>
          <p:nvPr/>
        </p:nvSpPr>
        <p:spPr>
          <a:xfrm>
            <a:off x="1059509" y="2332028"/>
            <a:ext cx="4290260" cy="371142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2800" dirty="0">
                <a:solidFill>
                  <a:schemeClr val="bg1"/>
                </a:solidFill>
              </a:rPr>
              <a:t>Backend szerverünk node.js keretrendszer segítségével írtuk meg. A Node.js egy JavaScript alapú, gyors szerveroldali futtatókörnyezet, amely sok egyidejű kapcsolat kezelésére alkalmas.</a:t>
            </a:r>
          </a:p>
        </p:txBody>
      </p:sp>
    </p:spTree>
    <p:extLst>
      <p:ext uri="{BB962C8B-B14F-4D97-AF65-F5344CB8AC3E}">
        <p14:creationId xmlns:p14="http://schemas.microsoft.com/office/powerpoint/2010/main" val="13699512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807726-E923-0989-AA98-2A27A57F2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0384054-A2CC-6545-16B1-F9D71478A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602572E-EB82-8CAC-8E0E-4BD42FA0C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961" y="575750"/>
            <a:ext cx="5388077" cy="1527049"/>
          </a:xfrm>
        </p:spPr>
        <p:txBody>
          <a:bodyPr anchor="b">
            <a:normAutofit/>
          </a:bodyPr>
          <a:lstStyle/>
          <a:p>
            <a:r>
              <a:rPr lang="hu-HU" sz="3300" dirty="0"/>
              <a:t>Fejlesztési környezetek</a:t>
            </a:r>
            <a:br>
              <a:rPr lang="hu-HU" sz="3300" dirty="0"/>
            </a:br>
            <a:endParaRPr lang="hu-HU" sz="3300" dirty="0"/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2744EF0C-F403-3E98-24CA-C94A87E5A815}"/>
              </a:ext>
            </a:extLst>
          </p:cNvPr>
          <p:cNvSpPr/>
          <p:nvPr/>
        </p:nvSpPr>
        <p:spPr>
          <a:xfrm>
            <a:off x="855745" y="2180625"/>
            <a:ext cx="4872394" cy="4321020"/>
          </a:xfrm>
          <a:prstGeom prst="roundRect">
            <a:avLst/>
          </a:prstGeom>
          <a:solidFill>
            <a:srgbClr val="BE46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: lekerekített 13">
            <a:extLst>
              <a:ext uri="{FF2B5EF4-FFF2-40B4-BE49-F238E27FC236}">
                <a16:creationId xmlns:a16="http://schemas.microsoft.com/office/drawing/2014/main" id="{06C126CE-D754-2C2F-988D-98AFD1BF01AD}"/>
              </a:ext>
            </a:extLst>
          </p:cNvPr>
          <p:cNvSpPr/>
          <p:nvPr/>
        </p:nvSpPr>
        <p:spPr>
          <a:xfrm>
            <a:off x="6358759" y="2180624"/>
            <a:ext cx="4977495" cy="4220176"/>
          </a:xfrm>
          <a:prstGeom prst="roundRect">
            <a:avLst>
              <a:gd name="adj" fmla="val 15503"/>
            </a:avLst>
          </a:prstGeom>
          <a:blipFill>
            <a:blip r:embed="rId3"/>
            <a:stretch>
              <a:fillRect/>
            </a:stretch>
          </a:blipFill>
          <a:ln w="28575">
            <a:solidFill>
              <a:srgbClr val="BE46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Cím 1">
            <a:extLst>
              <a:ext uri="{FF2B5EF4-FFF2-40B4-BE49-F238E27FC236}">
                <a16:creationId xmlns:a16="http://schemas.microsoft.com/office/drawing/2014/main" id="{BCC8031C-DC0E-2D25-846A-09040337207C}"/>
              </a:ext>
            </a:extLst>
          </p:cNvPr>
          <p:cNvSpPr txBox="1">
            <a:spLocks/>
          </p:cNvSpPr>
          <p:nvPr/>
        </p:nvSpPr>
        <p:spPr>
          <a:xfrm>
            <a:off x="1059509" y="2332028"/>
            <a:ext cx="4290260" cy="371142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3300" dirty="0">
                <a:solidFill>
                  <a:schemeClr val="bg1"/>
                </a:solidFill>
              </a:rPr>
              <a:t>A frontend fejlesztés során </a:t>
            </a:r>
            <a:r>
              <a:rPr lang="hu-HU" sz="3300" dirty="0" err="1">
                <a:solidFill>
                  <a:schemeClr val="bg1"/>
                </a:solidFill>
              </a:rPr>
              <a:t>angular</a:t>
            </a:r>
            <a:r>
              <a:rPr lang="hu-HU" sz="3300" dirty="0">
                <a:solidFill>
                  <a:schemeClr val="bg1"/>
                </a:solidFill>
              </a:rPr>
              <a:t>-t használtunk. Az </a:t>
            </a:r>
            <a:r>
              <a:rPr lang="hu-HU" sz="3300" dirty="0" err="1">
                <a:solidFill>
                  <a:schemeClr val="bg1"/>
                </a:solidFill>
              </a:rPr>
              <a:t>angular</a:t>
            </a:r>
            <a:r>
              <a:rPr lang="hu-HU" sz="3300" dirty="0">
                <a:solidFill>
                  <a:schemeClr val="bg1"/>
                </a:solidFill>
              </a:rPr>
              <a:t> egy </a:t>
            </a:r>
            <a:r>
              <a:rPr lang="hu-HU" sz="3300" dirty="0" err="1">
                <a:solidFill>
                  <a:schemeClr val="bg1"/>
                </a:solidFill>
              </a:rPr>
              <a:t>TypeScript</a:t>
            </a:r>
            <a:r>
              <a:rPr lang="hu-HU" sz="3300" dirty="0">
                <a:solidFill>
                  <a:schemeClr val="bg1"/>
                </a:solidFill>
              </a:rPr>
              <a:t> alapú frontend keretrendszer, amellyel nagyobb, strukturált, egyoldalas webalkalmazásokat lehet fejleszteni.</a:t>
            </a:r>
          </a:p>
        </p:txBody>
      </p:sp>
    </p:spTree>
    <p:extLst>
      <p:ext uri="{BB962C8B-B14F-4D97-AF65-F5344CB8AC3E}">
        <p14:creationId xmlns:p14="http://schemas.microsoft.com/office/powerpoint/2010/main" val="17318146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E9241EF-8FF6-5EE7-550B-6C549491E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539" y="881734"/>
            <a:ext cx="4626102" cy="3232785"/>
          </a:xfrm>
        </p:spPr>
        <p:txBody>
          <a:bodyPr>
            <a:normAutofit/>
          </a:bodyPr>
          <a:lstStyle/>
          <a:p>
            <a:r>
              <a:rPr lang="hu-HU" sz="5400" dirty="0"/>
              <a:t>A projektünk funkciói</a:t>
            </a:r>
          </a:p>
        </p:txBody>
      </p:sp>
      <p:sp>
        <p:nvSpPr>
          <p:cNvPr id="15" name="Téglalap: lekerekített 14">
            <a:extLst>
              <a:ext uri="{FF2B5EF4-FFF2-40B4-BE49-F238E27FC236}">
                <a16:creationId xmlns:a16="http://schemas.microsoft.com/office/drawing/2014/main" id="{D7E96934-C773-93B5-737A-39965501935D}"/>
              </a:ext>
            </a:extLst>
          </p:cNvPr>
          <p:cNvSpPr/>
          <p:nvPr/>
        </p:nvSpPr>
        <p:spPr>
          <a:xfrm>
            <a:off x="11210921" y="5416694"/>
            <a:ext cx="1537057" cy="1411949"/>
          </a:xfrm>
          <a:prstGeom prst="roundRect">
            <a:avLst>
              <a:gd name="adj" fmla="val 27966"/>
            </a:avLst>
          </a:prstGeom>
          <a:solidFill>
            <a:srgbClr val="2E7D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028CB01F-74E9-CF93-9505-6FA096BD1A50}"/>
              </a:ext>
            </a:extLst>
          </p:cNvPr>
          <p:cNvSpPr/>
          <p:nvPr/>
        </p:nvSpPr>
        <p:spPr>
          <a:xfrm>
            <a:off x="11210922" y="4082071"/>
            <a:ext cx="1835378" cy="1371600"/>
          </a:xfrm>
          <a:prstGeom prst="roundRect">
            <a:avLst>
              <a:gd name="adj" fmla="val 27966"/>
            </a:avLst>
          </a:prstGeom>
          <a:solidFill>
            <a:srgbClr val="7955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Téglalap: lekerekített 16">
            <a:extLst>
              <a:ext uri="{FF2B5EF4-FFF2-40B4-BE49-F238E27FC236}">
                <a16:creationId xmlns:a16="http://schemas.microsoft.com/office/drawing/2014/main" id="{EE3718FA-EB3D-EDBF-4D8F-149B098C9CA4}"/>
              </a:ext>
            </a:extLst>
          </p:cNvPr>
          <p:cNvSpPr/>
          <p:nvPr/>
        </p:nvSpPr>
        <p:spPr>
          <a:xfrm>
            <a:off x="11210923" y="2714281"/>
            <a:ext cx="1701979" cy="1371600"/>
          </a:xfrm>
          <a:prstGeom prst="roundRect">
            <a:avLst>
              <a:gd name="adj" fmla="val 27966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304B11A7-0A8C-C8F6-B370-632E70864908}"/>
              </a:ext>
            </a:extLst>
          </p:cNvPr>
          <p:cNvSpPr/>
          <p:nvPr/>
        </p:nvSpPr>
        <p:spPr>
          <a:xfrm>
            <a:off x="11210924" y="1344586"/>
            <a:ext cx="1537054" cy="1371600"/>
          </a:xfrm>
          <a:prstGeom prst="roundRect">
            <a:avLst>
              <a:gd name="adj" fmla="val 27966"/>
            </a:avLst>
          </a:prstGeom>
          <a:solidFill>
            <a:srgbClr val="CBC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Téglalap: lekerekített 18">
            <a:extLst>
              <a:ext uri="{FF2B5EF4-FFF2-40B4-BE49-F238E27FC236}">
                <a16:creationId xmlns:a16="http://schemas.microsoft.com/office/drawing/2014/main" id="{8EABFB12-A610-057A-1D85-47813ED1C660}"/>
              </a:ext>
            </a:extLst>
          </p:cNvPr>
          <p:cNvSpPr/>
          <p:nvPr/>
        </p:nvSpPr>
        <p:spPr>
          <a:xfrm>
            <a:off x="11210925" y="-27014"/>
            <a:ext cx="1537054" cy="1371600"/>
          </a:xfrm>
          <a:prstGeom prst="roundRect">
            <a:avLst>
              <a:gd name="adj" fmla="val 27966"/>
            </a:avLst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927975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6C636-BC06-FC7B-50D9-34E3BCBD0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B6E1DA3-A536-F72E-C4D1-A761EBED6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539" y="881734"/>
            <a:ext cx="4626102" cy="3232785"/>
          </a:xfrm>
        </p:spPr>
        <p:txBody>
          <a:bodyPr>
            <a:normAutofit/>
          </a:bodyPr>
          <a:lstStyle/>
          <a:p>
            <a:r>
              <a:rPr lang="hu-HU" sz="5400" dirty="0"/>
              <a:t>A projektünk funkciói</a:t>
            </a:r>
          </a:p>
        </p:txBody>
      </p:sp>
      <p:sp>
        <p:nvSpPr>
          <p:cNvPr id="15" name="Téglalap: lekerekített 14">
            <a:extLst>
              <a:ext uri="{FF2B5EF4-FFF2-40B4-BE49-F238E27FC236}">
                <a16:creationId xmlns:a16="http://schemas.microsoft.com/office/drawing/2014/main" id="{70E8CE99-85E4-E610-07F3-578DDD7D6FD3}"/>
              </a:ext>
            </a:extLst>
          </p:cNvPr>
          <p:cNvSpPr/>
          <p:nvPr/>
        </p:nvSpPr>
        <p:spPr>
          <a:xfrm>
            <a:off x="2295525" y="5457043"/>
            <a:ext cx="10452453" cy="1411949"/>
          </a:xfrm>
          <a:prstGeom prst="roundRect">
            <a:avLst>
              <a:gd name="adj" fmla="val 27966"/>
            </a:avLst>
          </a:prstGeom>
          <a:solidFill>
            <a:srgbClr val="2E7D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58E720FE-EB33-3A46-9D49-DBEDAC3E50A9}"/>
              </a:ext>
            </a:extLst>
          </p:cNvPr>
          <p:cNvSpPr/>
          <p:nvPr/>
        </p:nvSpPr>
        <p:spPr>
          <a:xfrm>
            <a:off x="3474376" y="4085443"/>
            <a:ext cx="9541101" cy="1371600"/>
          </a:xfrm>
          <a:prstGeom prst="roundRect">
            <a:avLst>
              <a:gd name="adj" fmla="val 27966"/>
            </a:avLst>
          </a:prstGeom>
          <a:solidFill>
            <a:srgbClr val="7955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Téglalap: lekerekített 16">
            <a:extLst>
              <a:ext uri="{FF2B5EF4-FFF2-40B4-BE49-F238E27FC236}">
                <a16:creationId xmlns:a16="http://schemas.microsoft.com/office/drawing/2014/main" id="{6928467F-C21D-7541-E0A2-FB4ADDDCAB41}"/>
              </a:ext>
            </a:extLst>
          </p:cNvPr>
          <p:cNvSpPr/>
          <p:nvPr/>
        </p:nvSpPr>
        <p:spPr>
          <a:xfrm>
            <a:off x="5057775" y="2714281"/>
            <a:ext cx="7855127" cy="1371600"/>
          </a:xfrm>
          <a:prstGeom prst="roundRect">
            <a:avLst>
              <a:gd name="adj" fmla="val 27966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44F6DDC0-FD69-8EA4-23D8-D4B97982F9FA}"/>
              </a:ext>
            </a:extLst>
          </p:cNvPr>
          <p:cNvSpPr/>
          <p:nvPr/>
        </p:nvSpPr>
        <p:spPr>
          <a:xfrm>
            <a:off x="6429375" y="1344586"/>
            <a:ext cx="6318603" cy="1371600"/>
          </a:xfrm>
          <a:prstGeom prst="roundRect">
            <a:avLst>
              <a:gd name="adj" fmla="val 27966"/>
            </a:avLst>
          </a:prstGeom>
          <a:solidFill>
            <a:srgbClr val="CBC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Téglalap: lekerekített 18">
            <a:extLst>
              <a:ext uri="{FF2B5EF4-FFF2-40B4-BE49-F238E27FC236}">
                <a16:creationId xmlns:a16="http://schemas.microsoft.com/office/drawing/2014/main" id="{AF2EFE5C-9E44-CB17-535A-9DDEA5FEDC9F}"/>
              </a:ext>
            </a:extLst>
          </p:cNvPr>
          <p:cNvSpPr/>
          <p:nvPr/>
        </p:nvSpPr>
        <p:spPr>
          <a:xfrm>
            <a:off x="8039100" y="-27014"/>
            <a:ext cx="4708879" cy="1371600"/>
          </a:xfrm>
          <a:prstGeom prst="roundRect">
            <a:avLst>
              <a:gd name="adj" fmla="val 27966"/>
            </a:avLst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0" name="Cím 1">
            <a:extLst>
              <a:ext uri="{FF2B5EF4-FFF2-40B4-BE49-F238E27FC236}">
                <a16:creationId xmlns:a16="http://schemas.microsoft.com/office/drawing/2014/main" id="{2A033887-987C-94EE-5F4D-C0C1C0076715}"/>
              </a:ext>
            </a:extLst>
          </p:cNvPr>
          <p:cNvSpPr txBox="1">
            <a:spLocks/>
          </p:cNvSpPr>
          <p:nvPr/>
        </p:nvSpPr>
        <p:spPr>
          <a:xfrm>
            <a:off x="2689098" y="5876316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dirty="0">
                <a:solidFill>
                  <a:schemeClr val="bg1"/>
                </a:solidFill>
              </a:rPr>
              <a:t>Belépés</a:t>
            </a:r>
          </a:p>
        </p:txBody>
      </p:sp>
      <p:sp>
        <p:nvSpPr>
          <p:cNvPr id="21" name="Cím 1">
            <a:extLst>
              <a:ext uri="{FF2B5EF4-FFF2-40B4-BE49-F238E27FC236}">
                <a16:creationId xmlns:a16="http://schemas.microsoft.com/office/drawing/2014/main" id="{67451E2B-D10D-16A5-311C-21E5D113EDBA}"/>
              </a:ext>
            </a:extLst>
          </p:cNvPr>
          <p:cNvSpPr txBox="1">
            <a:spLocks/>
          </p:cNvSpPr>
          <p:nvPr/>
        </p:nvSpPr>
        <p:spPr>
          <a:xfrm>
            <a:off x="3841623" y="451438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dirty="0">
                <a:solidFill>
                  <a:schemeClr val="bg1"/>
                </a:solidFill>
              </a:rPr>
              <a:t>Földek</a:t>
            </a:r>
          </a:p>
        </p:txBody>
      </p:sp>
      <p:sp>
        <p:nvSpPr>
          <p:cNvPr id="22" name="Cím 1">
            <a:extLst>
              <a:ext uri="{FF2B5EF4-FFF2-40B4-BE49-F238E27FC236}">
                <a16:creationId xmlns:a16="http://schemas.microsoft.com/office/drawing/2014/main" id="{69735C6C-BC6A-F221-1F8D-6D92BE2F57A1}"/>
              </a:ext>
            </a:extLst>
          </p:cNvPr>
          <p:cNvSpPr txBox="1">
            <a:spLocks/>
          </p:cNvSpPr>
          <p:nvPr/>
        </p:nvSpPr>
        <p:spPr>
          <a:xfrm>
            <a:off x="5603748" y="3093297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dirty="0">
                <a:solidFill>
                  <a:schemeClr val="bg1"/>
                </a:solidFill>
              </a:rPr>
              <a:t>Kiadások</a:t>
            </a:r>
          </a:p>
        </p:txBody>
      </p:sp>
      <p:sp>
        <p:nvSpPr>
          <p:cNvPr id="23" name="Cím 1">
            <a:extLst>
              <a:ext uri="{FF2B5EF4-FFF2-40B4-BE49-F238E27FC236}">
                <a16:creationId xmlns:a16="http://schemas.microsoft.com/office/drawing/2014/main" id="{6EFFBE84-D630-7A22-3604-CAFCB914A73E}"/>
              </a:ext>
            </a:extLst>
          </p:cNvPr>
          <p:cNvSpPr txBox="1">
            <a:spLocks/>
          </p:cNvSpPr>
          <p:nvPr/>
        </p:nvSpPr>
        <p:spPr>
          <a:xfrm>
            <a:off x="6865211" y="1711207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dirty="0">
                <a:solidFill>
                  <a:schemeClr val="bg1"/>
                </a:solidFill>
              </a:rPr>
              <a:t>Tervek</a:t>
            </a:r>
          </a:p>
        </p:txBody>
      </p:sp>
      <p:sp>
        <p:nvSpPr>
          <p:cNvPr id="24" name="Cím 1">
            <a:extLst>
              <a:ext uri="{FF2B5EF4-FFF2-40B4-BE49-F238E27FC236}">
                <a16:creationId xmlns:a16="http://schemas.microsoft.com/office/drawing/2014/main" id="{71DE84B5-9CBF-A08C-D9C5-10BC3D31F288}"/>
              </a:ext>
            </a:extLst>
          </p:cNvPr>
          <p:cNvSpPr txBox="1">
            <a:spLocks/>
          </p:cNvSpPr>
          <p:nvPr/>
        </p:nvSpPr>
        <p:spPr>
          <a:xfrm>
            <a:off x="8324843" y="356741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dirty="0">
                <a:solidFill>
                  <a:schemeClr val="bg1"/>
                </a:solidFill>
              </a:rPr>
              <a:t>AI súgó</a:t>
            </a:r>
          </a:p>
        </p:txBody>
      </p:sp>
    </p:spTree>
    <p:extLst>
      <p:ext uri="{BB962C8B-B14F-4D97-AF65-F5344CB8AC3E}">
        <p14:creationId xmlns:p14="http://schemas.microsoft.com/office/powerpoint/2010/main" val="1366344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34CB3-3BB4-8E95-4022-D13DE0B97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églalap: lekerekített 14">
            <a:extLst>
              <a:ext uri="{FF2B5EF4-FFF2-40B4-BE49-F238E27FC236}">
                <a16:creationId xmlns:a16="http://schemas.microsoft.com/office/drawing/2014/main" id="{F106BFF8-33C9-902D-7C8F-5472C530A246}"/>
              </a:ext>
            </a:extLst>
          </p:cNvPr>
          <p:cNvSpPr/>
          <p:nvPr/>
        </p:nvSpPr>
        <p:spPr>
          <a:xfrm>
            <a:off x="2295525" y="5457043"/>
            <a:ext cx="10452453" cy="1411949"/>
          </a:xfrm>
          <a:prstGeom prst="roundRect">
            <a:avLst>
              <a:gd name="adj" fmla="val 27966"/>
            </a:avLst>
          </a:prstGeom>
          <a:solidFill>
            <a:srgbClr val="2E7D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56D1F483-9DC1-A118-865B-905ED7C6DE25}"/>
              </a:ext>
            </a:extLst>
          </p:cNvPr>
          <p:cNvSpPr/>
          <p:nvPr/>
        </p:nvSpPr>
        <p:spPr>
          <a:xfrm>
            <a:off x="11210922" y="4082071"/>
            <a:ext cx="1835378" cy="1371600"/>
          </a:xfrm>
          <a:prstGeom prst="roundRect">
            <a:avLst>
              <a:gd name="adj" fmla="val 27966"/>
            </a:avLst>
          </a:prstGeom>
          <a:solidFill>
            <a:srgbClr val="7955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Téglalap: lekerekített 16">
            <a:extLst>
              <a:ext uri="{FF2B5EF4-FFF2-40B4-BE49-F238E27FC236}">
                <a16:creationId xmlns:a16="http://schemas.microsoft.com/office/drawing/2014/main" id="{748A5ED7-BF33-494E-C3A4-B593EACD4590}"/>
              </a:ext>
            </a:extLst>
          </p:cNvPr>
          <p:cNvSpPr/>
          <p:nvPr/>
        </p:nvSpPr>
        <p:spPr>
          <a:xfrm>
            <a:off x="11210923" y="2714281"/>
            <a:ext cx="1701979" cy="1371600"/>
          </a:xfrm>
          <a:prstGeom prst="roundRect">
            <a:avLst>
              <a:gd name="adj" fmla="val 27966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8D255B3D-E04F-C200-DE81-5A14D52C7905}"/>
              </a:ext>
            </a:extLst>
          </p:cNvPr>
          <p:cNvSpPr/>
          <p:nvPr/>
        </p:nvSpPr>
        <p:spPr>
          <a:xfrm>
            <a:off x="11210924" y="1344586"/>
            <a:ext cx="1537054" cy="1371600"/>
          </a:xfrm>
          <a:prstGeom prst="roundRect">
            <a:avLst>
              <a:gd name="adj" fmla="val 27966"/>
            </a:avLst>
          </a:prstGeom>
          <a:solidFill>
            <a:srgbClr val="CBC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Téglalap: lekerekített 18">
            <a:extLst>
              <a:ext uri="{FF2B5EF4-FFF2-40B4-BE49-F238E27FC236}">
                <a16:creationId xmlns:a16="http://schemas.microsoft.com/office/drawing/2014/main" id="{53119D70-6A04-CADA-A44F-E748BF80C9C0}"/>
              </a:ext>
            </a:extLst>
          </p:cNvPr>
          <p:cNvSpPr/>
          <p:nvPr/>
        </p:nvSpPr>
        <p:spPr>
          <a:xfrm>
            <a:off x="11210925" y="-27014"/>
            <a:ext cx="1537054" cy="1371600"/>
          </a:xfrm>
          <a:prstGeom prst="roundRect">
            <a:avLst>
              <a:gd name="adj" fmla="val 27966"/>
            </a:avLst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0" name="Cím 1">
            <a:extLst>
              <a:ext uri="{FF2B5EF4-FFF2-40B4-BE49-F238E27FC236}">
                <a16:creationId xmlns:a16="http://schemas.microsoft.com/office/drawing/2014/main" id="{CE87185E-882B-1BAF-9AAD-2EA8344A8323}"/>
              </a:ext>
            </a:extLst>
          </p:cNvPr>
          <p:cNvSpPr txBox="1">
            <a:spLocks/>
          </p:cNvSpPr>
          <p:nvPr/>
        </p:nvSpPr>
        <p:spPr>
          <a:xfrm>
            <a:off x="2689098" y="5876316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dirty="0">
                <a:solidFill>
                  <a:schemeClr val="bg1"/>
                </a:solidFill>
              </a:rPr>
              <a:t>Belépés</a:t>
            </a:r>
          </a:p>
        </p:txBody>
      </p:sp>
      <p:sp>
        <p:nvSpPr>
          <p:cNvPr id="21" name="Cím 1">
            <a:extLst>
              <a:ext uri="{FF2B5EF4-FFF2-40B4-BE49-F238E27FC236}">
                <a16:creationId xmlns:a16="http://schemas.microsoft.com/office/drawing/2014/main" id="{E45C306F-A4D6-8139-BBDA-C73D1A39AB5E}"/>
              </a:ext>
            </a:extLst>
          </p:cNvPr>
          <p:cNvSpPr txBox="1">
            <a:spLocks/>
          </p:cNvSpPr>
          <p:nvPr/>
        </p:nvSpPr>
        <p:spPr>
          <a:xfrm>
            <a:off x="3841623" y="451438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2" name="Cím 1">
            <a:extLst>
              <a:ext uri="{FF2B5EF4-FFF2-40B4-BE49-F238E27FC236}">
                <a16:creationId xmlns:a16="http://schemas.microsoft.com/office/drawing/2014/main" id="{14A11FB4-60A3-D091-40F9-230B3996F667}"/>
              </a:ext>
            </a:extLst>
          </p:cNvPr>
          <p:cNvSpPr txBox="1">
            <a:spLocks/>
          </p:cNvSpPr>
          <p:nvPr/>
        </p:nvSpPr>
        <p:spPr>
          <a:xfrm>
            <a:off x="5603748" y="3093297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3" name="Cím 1">
            <a:extLst>
              <a:ext uri="{FF2B5EF4-FFF2-40B4-BE49-F238E27FC236}">
                <a16:creationId xmlns:a16="http://schemas.microsoft.com/office/drawing/2014/main" id="{06CEFBDA-9DDD-2F8C-B6AC-57854D9B3854}"/>
              </a:ext>
            </a:extLst>
          </p:cNvPr>
          <p:cNvSpPr txBox="1">
            <a:spLocks/>
          </p:cNvSpPr>
          <p:nvPr/>
        </p:nvSpPr>
        <p:spPr>
          <a:xfrm>
            <a:off x="6865211" y="1711207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4" name="Cím 1">
            <a:extLst>
              <a:ext uri="{FF2B5EF4-FFF2-40B4-BE49-F238E27FC236}">
                <a16:creationId xmlns:a16="http://schemas.microsoft.com/office/drawing/2014/main" id="{DEF146D0-D500-9E9C-C3E1-35BDD48D0238}"/>
              </a:ext>
            </a:extLst>
          </p:cNvPr>
          <p:cNvSpPr txBox="1">
            <a:spLocks/>
          </p:cNvSpPr>
          <p:nvPr/>
        </p:nvSpPr>
        <p:spPr>
          <a:xfrm>
            <a:off x="8324843" y="356741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415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B9F96-BB18-1211-7D28-606A90051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0ED7CC14-0CFC-3453-E71D-2426E36AFF43}"/>
              </a:ext>
            </a:extLst>
          </p:cNvPr>
          <p:cNvSpPr/>
          <p:nvPr/>
        </p:nvSpPr>
        <p:spPr>
          <a:xfrm>
            <a:off x="11246023" y="5451398"/>
            <a:ext cx="1835378" cy="1371600"/>
          </a:xfrm>
          <a:prstGeom prst="roundRect">
            <a:avLst>
              <a:gd name="adj" fmla="val 27966"/>
            </a:avLst>
          </a:prstGeom>
          <a:solidFill>
            <a:srgbClr val="7955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Téglalap: lekerekített 16">
            <a:extLst>
              <a:ext uri="{FF2B5EF4-FFF2-40B4-BE49-F238E27FC236}">
                <a16:creationId xmlns:a16="http://schemas.microsoft.com/office/drawing/2014/main" id="{D316F14D-6DB9-AF4F-9637-73AABFDB1382}"/>
              </a:ext>
            </a:extLst>
          </p:cNvPr>
          <p:cNvSpPr/>
          <p:nvPr/>
        </p:nvSpPr>
        <p:spPr>
          <a:xfrm>
            <a:off x="11246023" y="4079798"/>
            <a:ext cx="1701979" cy="1371600"/>
          </a:xfrm>
          <a:prstGeom prst="roundRect">
            <a:avLst>
              <a:gd name="adj" fmla="val 27966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095B0334-FDEB-4440-8916-180C6D0273DD}"/>
              </a:ext>
            </a:extLst>
          </p:cNvPr>
          <p:cNvSpPr/>
          <p:nvPr/>
        </p:nvSpPr>
        <p:spPr>
          <a:xfrm>
            <a:off x="11246023" y="2708198"/>
            <a:ext cx="1537054" cy="1371600"/>
          </a:xfrm>
          <a:prstGeom prst="roundRect">
            <a:avLst>
              <a:gd name="adj" fmla="val 27966"/>
            </a:avLst>
          </a:prstGeom>
          <a:solidFill>
            <a:srgbClr val="CBC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Téglalap: lekerekített 18">
            <a:extLst>
              <a:ext uri="{FF2B5EF4-FFF2-40B4-BE49-F238E27FC236}">
                <a16:creationId xmlns:a16="http://schemas.microsoft.com/office/drawing/2014/main" id="{10B99435-74A9-E18F-A8B3-0AD50D94F9D0}"/>
              </a:ext>
            </a:extLst>
          </p:cNvPr>
          <p:cNvSpPr/>
          <p:nvPr/>
        </p:nvSpPr>
        <p:spPr>
          <a:xfrm>
            <a:off x="11246023" y="1347803"/>
            <a:ext cx="1537054" cy="1371600"/>
          </a:xfrm>
          <a:prstGeom prst="roundRect">
            <a:avLst>
              <a:gd name="adj" fmla="val 27966"/>
            </a:avLst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grpSp>
        <p:nvGrpSpPr>
          <p:cNvPr id="2" name="Csoportba foglalás 1">
            <a:extLst>
              <a:ext uri="{FF2B5EF4-FFF2-40B4-BE49-F238E27FC236}">
                <a16:creationId xmlns:a16="http://schemas.microsoft.com/office/drawing/2014/main" id="{201A2DEF-4832-7C2B-C013-3DF205451885}"/>
              </a:ext>
            </a:extLst>
          </p:cNvPr>
          <p:cNvGrpSpPr/>
          <p:nvPr/>
        </p:nvGrpSpPr>
        <p:grpSpPr>
          <a:xfrm>
            <a:off x="3081331" y="-62532"/>
            <a:ext cx="10487024" cy="1551531"/>
            <a:chOff x="2295525" y="5457043"/>
            <a:chExt cx="11047151" cy="1551531"/>
          </a:xfrm>
        </p:grpSpPr>
        <p:sp>
          <p:nvSpPr>
            <p:cNvPr id="15" name="Téglalap: lekerekített 14">
              <a:extLst>
                <a:ext uri="{FF2B5EF4-FFF2-40B4-BE49-F238E27FC236}">
                  <a16:creationId xmlns:a16="http://schemas.microsoft.com/office/drawing/2014/main" id="{27F88B4F-3316-75DA-0847-3B7661C13090}"/>
                </a:ext>
              </a:extLst>
            </p:cNvPr>
            <p:cNvSpPr/>
            <p:nvPr/>
          </p:nvSpPr>
          <p:spPr>
            <a:xfrm>
              <a:off x="2295525" y="5457043"/>
              <a:ext cx="10452453" cy="1411949"/>
            </a:xfrm>
            <a:prstGeom prst="roundRect">
              <a:avLst>
                <a:gd name="adj" fmla="val 27966"/>
              </a:avLst>
            </a:prstGeom>
            <a:solidFill>
              <a:srgbClr val="2E7D3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20" name="Cím 1">
              <a:extLst>
                <a:ext uri="{FF2B5EF4-FFF2-40B4-BE49-F238E27FC236}">
                  <a16:creationId xmlns:a16="http://schemas.microsoft.com/office/drawing/2014/main" id="{786C2053-441E-EDF7-3499-419DB5F6012F}"/>
                </a:ext>
              </a:extLst>
            </p:cNvPr>
            <p:cNvSpPr txBox="1">
              <a:spLocks/>
            </p:cNvSpPr>
            <p:nvPr/>
          </p:nvSpPr>
          <p:spPr>
            <a:xfrm>
              <a:off x="2689098" y="5876316"/>
              <a:ext cx="10653578" cy="1132258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hu-HU" dirty="0">
                  <a:solidFill>
                    <a:schemeClr val="bg1"/>
                  </a:solidFill>
                </a:rPr>
                <a:t>Belépés</a:t>
              </a:r>
            </a:p>
          </p:txBody>
        </p:sp>
      </p:grpSp>
      <p:sp>
        <p:nvSpPr>
          <p:cNvPr id="21" name="Cím 1">
            <a:extLst>
              <a:ext uri="{FF2B5EF4-FFF2-40B4-BE49-F238E27FC236}">
                <a16:creationId xmlns:a16="http://schemas.microsoft.com/office/drawing/2014/main" id="{E0868A7D-2278-7181-C779-B2CE2E88CF26}"/>
              </a:ext>
            </a:extLst>
          </p:cNvPr>
          <p:cNvSpPr txBox="1">
            <a:spLocks/>
          </p:cNvSpPr>
          <p:nvPr/>
        </p:nvSpPr>
        <p:spPr>
          <a:xfrm>
            <a:off x="3841623" y="451438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2" name="Cím 1">
            <a:extLst>
              <a:ext uri="{FF2B5EF4-FFF2-40B4-BE49-F238E27FC236}">
                <a16:creationId xmlns:a16="http://schemas.microsoft.com/office/drawing/2014/main" id="{F19531C3-109A-80E7-5600-B9EC98A31DFC}"/>
              </a:ext>
            </a:extLst>
          </p:cNvPr>
          <p:cNvSpPr txBox="1">
            <a:spLocks/>
          </p:cNvSpPr>
          <p:nvPr/>
        </p:nvSpPr>
        <p:spPr>
          <a:xfrm>
            <a:off x="5603748" y="3093297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3" name="Cím 1">
            <a:extLst>
              <a:ext uri="{FF2B5EF4-FFF2-40B4-BE49-F238E27FC236}">
                <a16:creationId xmlns:a16="http://schemas.microsoft.com/office/drawing/2014/main" id="{2FA3B6A3-28BF-EEA6-423B-297161481358}"/>
              </a:ext>
            </a:extLst>
          </p:cNvPr>
          <p:cNvSpPr txBox="1">
            <a:spLocks/>
          </p:cNvSpPr>
          <p:nvPr/>
        </p:nvSpPr>
        <p:spPr>
          <a:xfrm>
            <a:off x="6865211" y="1711207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4" name="Cím 1">
            <a:extLst>
              <a:ext uri="{FF2B5EF4-FFF2-40B4-BE49-F238E27FC236}">
                <a16:creationId xmlns:a16="http://schemas.microsoft.com/office/drawing/2014/main" id="{5617EB23-68C7-A331-6BFB-6F5B8FADA0EE}"/>
              </a:ext>
            </a:extLst>
          </p:cNvPr>
          <p:cNvSpPr txBox="1">
            <a:spLocks/>
          </p:cNvSpPr>
          <p:nvPr/>
        </p:nvSpPr>
        <p:spPr>
          <a:xfrm>
            <a:off x="8324843" y="356741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pic>
        <p:nvPicPr>
          <p:cNvPr id="6" name="Kép 5" descr="A képen szöveg, képernyőkép, Betűtípus, szá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60635CE-FD79-E583-80D3-D936DCA4A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059" y="2155479"/>
            <a:ext cx="3572374" cy="38486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Tartalom helye 2">
            <a:extLst>
              <a:ext uri="{FF2B5EF4-FFF2-40B4-BE49-F238E27FC236}">
                <a16:creationId xmlns:a16="http://schemas.microsoft.com/office/drawing/2014/main" id="{3C1582E9-CBE8-D532-0EB9-C50643632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1071" y="2843465"/>
            <a:ext cx="4361693" cy="4096514"/>
          </a:xfrm>
        </p:spPr>
        <p:txBody>
          <a:bodyPr>
            <a:normAutofit/>
          </a:bodyPr>
          <a:lstStyle/>
          <a:p>
            <a:r>
              <a:rPr lang="hu-HU" sz="1800" dirty="0"/>
              <a:t>A gazdák első lépése a regisztráció</a:t>
            </a:r>
          </a:p>
          <a:p>
            <a:r>
              <a:rPr lang="hu-HU" sz="1800" dirty="0"/>
              <a:t>Szükséges adatok megadása után feltöltjük a gazdát az adatbázisba és eltároljuk adatait.</a:t>
            </a:r>
          </a:p>
          <a:p>
            <a:endParaRPr lang="hu-HU" sz="1800" dirty="0"/>
          </a:p>
          <a:p>
            <a:endParaRPr lang="hu-HU" sz="1800" dirty="0"/>
          </a:p>
        </p:txBody>
      </p:sp>
    </p:spTree>
    <p:extLst>
      <p:ext uri="{BB962C8B-B14F-4D97-AF65-F5344CB8AC3E}">
        <p14:creationId xmlns:p14="http://schemas.microsoft.com/office/powerpoint/2010/main" val="587698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A7895-0533-4ECF-4B47-45DDEBAC0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F6DB707E-37A8-E919-6A91-C4BAB6FA1242}"/>
              </a:ext>
            </a:extLst>
          </p:cNvPr>
          <p:cNvSpPr/>
          <p:nvPr/>
        </p:nvSpPr>
        <p:spPr>
          <a:xfrm>
            <a:off x="11246023" y="5451398"/>
            <a:ext cx="1835378" cy="1371600"/>
          </a:xfrm>
          <a:prstGeom prst="roundRect">
            <a:avLst>
              <a:gd name="adj" fmla="val 27966"/>
            </a:avLst>
          </a:prstGeom>
          <a:solidFill>
            <a:srgbClr val="7955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Téglalap: lekerekített 16">
            <a:extLst>
              <a:ext uri="{FF2B5EF4-FFF2-40B4-BE49-F238E27FC236}">
                <a16:creationId xmlns:a16="http://schemas.microsoft.com/office/drawing/2014/main" id="{B755607A-27FA-D4C5-9D2F-989CE1C1D1C3}"/>
              </a:ext>
            </a:extLst>
          </p:cNvPr>
          <p:cNvSpPr/>
          <p:nvPr/>
        </p:nvSpPr>
        <p:spPr>
          <a:xfrm>
            <a:off x="11246023" y="4079798"/>
            <a:ext cx="1701979" cy="1371600"/>
          </a:xfrm>
          <a:prstGeom prst="roundRect">
            <a:avLst>
              <a:gd name="adj" fmla="val 27966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ED1BB482-8E84-192C-F28C-2563579AD454}"/>
              </a:ext>
            </a:extLst>
          </p:cNvPr>
          <p:cNvSpPr/>
          <p:nvPr/>
        </p:nvSpPr>
        <p:spPr>
          <a:xfrm>
            <a:off x="11246023" y="2708198"/>
            <a:ext cx="1537054" cy="1371600"/>
          </a:xfrm>
          <a:prstGeom prst="roundRect">
            <a:avLst>
              <a:gd name="adj" fmla="val 27966"/>
            </a:avLst>
          </a:prstGeom>
          <a:solidFill>
            <a:srgbClr val="CBC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Téglalap: lekerekített 18">
            <a:extLst>
              <a:ext uri="{FF2B5EF4-FFF2-40B4-BE49-F238E27FC236}">
                <a16:creationId xmlns:a16="http://schemas.microsoft.com/office/drawing/2014/main" id="{405F1C16-01D7-A5DC-3CAA-D4399075CD50}"/>
              </a:ext>
            </a:extLst>
          </p:cNvPr>
          <p:cNvSpPr/>
          <p:nvPr/>
        </p:nvSpPr>
        <p:spPr>
          <a:xfrm>
            <a:off x="11246023" y="1347803"/>
            <a:ext cx="1537054" cy="1371600"/>
          </a:xfrm>
          <a:prstGeom prst="roundRect">
            <a:avLst>
              <a:gd name="adj" fmla="val 27966"/>
            </a:avLst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grpSp>
        <p:nvGrpSpPr>
          <p:cNvPr id="2" name="Csoportba foglalás 1">
            <a:extLst>
              <a:ext uri="{FF2B5EF4-FFF2-40B4-BE49-F238E27FC236}">
                <a16:creationId xmlns:a16="http://schemas.microsoft.com/office/drawing/2014/main" id="{06D709D9-1D36-DD8E-6F06-4E7247F36534}"/>
              </a:ext>
            </a:extLst>
          </p:cNvPr>
          <p:cNvGrpSpPr/>
          <p:nvPr/>
        </p:nvGrpSpPr>
        <p:grpSpPr>
          <a:xfrm>
            <a:off x="3081331" y="-62532"/>
            <a:ext cx="10487024" cy="1551531"/>
            <a:chOff x="2295525" y="5457043"/>
            <a:chExt cx="11047151" cy="1551531"/>
          </a:xfrm>
        </p:grpSpPr>
        <p:sp>
          <p:nvSpPr>
            <p:cNvPr id="15" name="Téglalap: lekerekített 14">
              <a:extLst>
                <a:ext uri="{FF2B5EF4-FFF2-40B4-BE49-F238E27FC236}">
                  <a16:creationId xmlns:a16="http://schemas.microsoft.com/office/drawing/2014/main" id="{6AE93CA7-F6C8-6CF7-8CD9-2AF2A28B35FF}"/>
                </a:ext>
              </a:extLst>
            </p:cNvPr>
            <p:cNvSpPr/>
            <p:nvPr/>
          </p:nvSpPr>
          <p:spPr>
            <a:xfrm>
              <a:off x="2295525" y="5457043"/>
              <a:ext cx="10452453" cy="1411949"/>
            </a:xfrm>
            <a:prstGeom prst="roundRect">
              <a:avLst>
                <a:gd name="adj" fmla="val 27966"/>
              </a:avLst>
            </a:prstGeom>
            <a:solidFill>
              <a:srgbClr val="2E7D3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20" name="Cím 1">
              <a:extLst>
                <a:ext uri="{FF2B5EF4-FFF2-40B4-BE49-F238E27FC236}">
                  <a16:creationId xmlns:a16="http://schemas.microsoft.com/office/drawing/2014/main" id="{9B415E8D-5233-5844-3EF6-21F29BF04C56}"/>
                </a:ext>
              </a:extLst>
            </p:cNvPr>
            <p:cNvSpPr txBox="1">
              <a:spLocks/>
            </p:cNvSpPr>
            <p:nvPr/>
          </p:nvSpPr>
          <p:spPr>
            <a:xfrm>
              <a:off x="2689098" y="5876316"/>
              <a:ext cx="10653578" cy="1132258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hu-HU" dirty="0">
                  <a:solidFill>
                    <a:schemeClr val="bg1"/>
                  </a:solidFill>
                </a:rPr>
                <a:t>Belépés</a:t>
              </a:r>
            </a:p>
          </p:txBody>
        </p:sp>
      </p:grpSp>
      <p:sp>
        <p:nvSpPr>
          <p:cNvPr id="21" name="Cím 1">
            <a:extLst>
              <a:ext uri="{FF2B5EF4-FFF2-40B4-BE49-F238E27FC236}">
                <a16:creationId xmlns:a16="http://schemas.microsoft.com/office/drawing/2014/main" id="{B63D13B5-9BA6-8496-8242-DDB418648D12}"/>
              </a:ext>
            </a:extLst>
          </p:cNvPr>
          <p:cNvSpPr txBox="1">
            <a:spLocks/>
          </p:cNvSpPr>
          <p:nvPr/>
        </p:nvSpPr>
        <p:spPr>
          <a:xfrm>
            <a:off x="3841623" y="451438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2" name="Cím 1">
            <a:extLst>
              <a:ext uri="{FF2B5EF4-FFF2-40B4-BE49-F238E27FC236}">
                <a16:creationId xmlns:a16="http://schemas.microsoft.com/office/drawing/2014/main" id="{9D035280-0CEB-F6E8-7C8D-C6510577036C}"/>
              </a:ext>
            </a:extLst>
          </p:cNvPr>
          <p:cNvSpPr txBox="1">
            <a:spLocks/>
          </p:cNvSpPr>
          <p:nvPr/>
        </p:nvSpPr>
        <p:spPr>
          <a:xfrm>
            <a:off x="5603748" y="3093297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3" name="Cím 1">
            <a:extLst>
              <a:ext uri="{FF2B5EF4-FFF2-40B4-BE49-F238E27FC236}">
                <a16:creationId xmlns:a16="http://schemas.microsoft.com/office/drawing/2014/main" id="{338A66BB-746B-0C64-102F-0B12B3ACB41C}"/>
              </a:ext>
            </a:extLst>
          </p:cNvPr>
          <p:cNvSpPr txBox="1">
            <a:spLocks/>
          </p:cNvSpPr>
          <p:nvPr/>
        </p:nvSpPr>
        <p:spPr>
          <a:xfrm>
            <a:off x="6865211" y="1711207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4" name="Cím 1">
            <a:extLst>
              <a:ext uri="{FF2B5EF4-FFF2-40B4-BE49-F238E27FC236}">
                <a16:creationId xmlns:a16="http://schemas.microsoft.com/office/drawing/2014/main" id="{F5D5A2B1-3C8F-7D7D-1B15-107CE6640C7A}"/>
              </a:ext>
            </a:extLst>
          </p:cNvPr>
          <p:cNvSpPr txBox="1">
            <a:spLocks/>
          </p:cNvSpPr>
          <p:nvPr/>
        </p:nvSpPr>
        <p:spPr>
          <a:xfrm>
            <a:off x="8324843" y="356741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pic>
        <p:nvPicPr>
          <p:cNvPr id="9" name="Tartalom helye 8">
            <a:extLst>
              <a:ext uri="{FF2B5EF4-FFF2-40B4-BE49-F238E27FC236}">
                <a16:creationId xmlns:a16="http://schemas.microsoft.com/office/drawing/2014/main" id="{06D15C96-44B5-AD23-C539-9BAC750F20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9959" y="2140542"/>
            <a:ext cx="3962743" cy="4170025"/>
          </a:xfrm>
          <a:prstGeom prst="rect">
            <a:avLst/>
          </a:prstGeom>
        </p:spPr>
      </p:pic>
      <p:sp>
        <p:nvSpPr>
          <p:cNvPr id="10" name="Tartalom helye 2">
            <a:extLst>
              <a:ext uri="{FF2B5EF4-FFF2-40B4-BE49-F238E27FC236}">
                <a16:creationId xmlns:a16="http://schemas.microsoft.com/office/drawing/2014/main" id="{32F5C7C9-F228-E8BF-78C7-F1F0F2F3FBD5}"/>
              </a:ext>
            </a:extLst>
          </p:cNvPr>
          <p:cNvSpPr txBox="1">
            <a:spLocks/>
          </p:cNvSpPr>
          <p:nvPr/>
        </p:nvSpPr>
        <p:spPr>
          <a:xfrm>
            <a:off x="5748424" y="2466123"/>
            <a:ext cx="4361693" cy="4096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1800" dirty="0"/>
              <a:t>A gazdák második lépése a bejelentkezés</a:t>
            </a:r>
          </a:p>
          <a:p>
            <a:r>
              <a:rPr lang="hu-HU" sz="1800" dirty="0"/>
              <a:t>A már regisztrált adatok megadása után a sikeres bejelentkezést egy felugró ablak igazolja vissza. </a:t>
            </a:r>
          </a:p>
          <a:p>
            <a:endParaRPr lang="hu-HU" sz="1800" dirty="0"/>
          </a:p>
          <a:p>
            <a:endParaRPr lang="hu-HU" sz="1800" dirty="0"/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E5DFC87A-F32C-2B8B-D707-B35242C8C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1491" y="4909175"/>
            <a:ext cx="2410161" cy="42868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21468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E4631-6BF6-AEAC-554E-842BCF937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églalap: lekerekített 16">
            <a:extLst>
              <a:ext uri="{FF2B5EF4-FFF2-40B4-BE49-F238E27FC236}">
                <a16:creationId xmlns:a16="http://schemas.microsoft.com/office/drawing/2014/main" id="{28F6F72B-3716-79DF-1282-F6C84376CDED}"/>
              </a:ext>
            </a:extLst>
          </p:cNvPr>
          <p:cNvSpPr/>
          <p:nvPr/>
        </p:nvSpPr>
        <p:spPr>
          <a:xfrm>
            <a:off x="11246023" y="4079798"/>
            <a:ext cx="1701979" cy="1371600"/>
          </a:xfrm>
          <a:prstGeom prst="roundRect">
            <a:avLst>
              <a:gd name="adj" fmla="val 27966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rgbClr val="795548"/>
              </a:solidFill>
            </a:endParaRPr>
          </a:p>
        </p:txBody>
      </p:sp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5EE1038E-03D8-504A-B46C-A03A0F812E49}"/>
              </a:ext>
            </a:extLst>
          </p:cNvPr>
          <p:cNvSpPr/>
          <p:nvPr/>
        </p:nvSpPr>
        <p:spPr>
          <a:xfrm>
            <a:off x="11246023" y="2708198"/>
            <a:ext cx="1537054" cy="1371600"/>
          </a:xfrm>
          <a:prstGeom prst="roundRect">
            <a:avLst>
              <a:gd name="adj" fmla="val 27966"/>
            </a:avLst>
          </a:prstGeom>
          <a:solidFill>
            <a:srgbClr val="CBC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Téglalap: lekerekített 18">
            <a:extLst>
              <a:ext uri="{FF2B5EF4-FFF2-40B4-BE49-F238E27FC236}">
                <a16:creationId xmlns:a16="http://schemas.microsoft.com/office/drawing/2014/main" id="{08A86A8D-C5D1-94A7-A7D1-1EE3DCE46FCA}"/>
              </a:ext>
            </a:extLst>
          </p:cNvPr>
          <p:cNvSpPr/>
          <p:nvPr/>
        </p:nvSpPr>
        <p:spPr>
          <a:xfrm>
            <a:off x="11246023" y="1347803"/>
            <a:ext cx="1537054" cy="1371600"/>
          </a:xfrm>
          <a:prstGeom prst="roundRect">
            <a:avLst>
              <a:gd name="adj" fmla="val 27966"/>
            </a:avLst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grpSp>
        <p:nvGrpSpPr>
          <p:cNvPr id="2" name="Csoportba foglalás 1">
            <a:extLst>
              <a:ext uri="{FF2B5EF4-FFF2-40B4-BE49-F238E27FC236}">
                <a16:creationId xmlns:a16="http://schemas.microsoft.com/office/drawing/2014/main" id="{F6F173BD-451E-F1EF-8852-BD51ABF3DB90}"/>
              </a:ext>
            </a:extLst>
          </p:cNvPr>
          <p:cNvGrpSpPr/>
          <p:nvPr/>
        </p:nvGrpSpPr>
        <p:grpSpPr>
          <a:xfrm>
            <a:off x="11246022" y="-90156"/>
            <a:ext cx="2336627" cy="1551531"/>
            <a:chOff x="2295525" y="5457043"/>
            <a:chExt cx="11047151" cy="1551531"/>
          </a:xfrm>
        </p:grpSpPr>
        <p:sp>
          <p:nvSpPr>
            <p:cNvPr id="15" name="Téglalap: lekerekített 14">
              <a:extLst>
                <a:ext uri="{FF2B5EF4-FFF2-40B4-BE49-F238E27FC236}">
                  <a16:creationId xmlns:a16="http://schemas.microsoft.com/office/drawing/2014/main" id="{3886D5A6-23EE-949B-2EB8-1D648C20DD44}"/>
                </a:ext>
              </a:extLst>
            </p:cNvPr>
            <p:cNvSpPr/>
            <p:nvPr/>
          </p:nvSpPr>
          <p:spPr>
            <a:xfrm>
              <a:off x="2295525" y="5457043"/>
              <a:ext cx="10452453" cy="1411949"/>
            </a:xfrm>
            <a:prstGeom prst="roundRect">
              <a:avLst>
                <a:gd name="adj" fmla="val 27966"/>
              </a:avLst>
            </a:prstGeom>
            <a:solidFill>
              <a:srgbClr val="2E7D3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20" name="Cím 1">
              <a:extLst>
                <a:ext uri="{FF2B5EF4-FFF2-40B4-BE49-F238E27FC236}">
                  <a16:creationId xmlns:a16="http://schemas.microsoft.com/office/drawing/2014/main" id="{D0C6C79A-EE11-F51E-E010-EC85AA925535}"/>
                </a:ext>
              </a:extLst>
            </p:cNvPr>
            <p:cNvSpPr txBox="1">
              <a:spLocks/>
            </p:cNvSpPr>
            <p:nvPr/>
          </p:nvSpPr>
          <p:spPr>
            <a:xfrm>
              <a:off x="2689098" y="5876316"/>
              <a:ext cx="10653578" cy="1132258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hu-HU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Cím 1">
            <a:extLst>
              <a:ext uri="{FF2B5EF4-FFF2-40B4-BE49-F238E27FC236}">
                <a16:creationId xmlns:a16="http://schemas.microsoft.com/office/drawing/2014/main" id="{B8C1C220-169C-A3A9-3354-28A23D7E8618}"/>
              </a:ext>
            </a:extLst>
          </p:cNvPr>
          <p:cNvSpPr txBox="1">
            <a:spLocks/>
          </p:cNvSpPr>
          <p:nvPr/>
        </p:nvSpPr>
        <p:spPr>
          <a:xfrm>
            <a:off x="3841623" y="451438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2" name="Cím 1">
            <a:extLst>
              <a:ext uri="{FF2B5EF4-FFF2-40B4-BE49-F238E27FC236}">
                <a16:creationId xmlns:a16="http://schemas.microsoft.com/office/drawing/2014/main" id="{489A84DB-5E09-6D8B-0C0A-EC942FB547D3}"/>
              </a:ext>
            </a:extLst>
          </p:cNvPr>
          <p:cNvSpPr txBox="1">
            <a:spLocks/>
          </p:cNvSpPr>
          <p:nvPr/>
        </p:nvSpPr>
        <p:spPr>
          <a:xfrm>
            <a:off x="5603748" y="3093297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3" name="Cím 1">
            <a:extLst>
              <a:ext uri="{FF2B5EF4-FFF2-40B4-BE49-F238E27FC236}">
                <a16:creationId xmlns:a16="http://schemas.microsoft.com/office/drawing/2014/main" id="{4D1005B6-97E8-2C40-5B5B-F9DA39F6CF62}"/>
              </a:ext>
            </a:extLst>
          </p:cNvPr>
          <p:cNvSpPr txBox="1">
            <a:spLocks/>
          </p:cNvSpPr>
          <p:nvPr/>
        </p:nvSpPr>
        <p:spPr>
          <a:xfrm>
            <a:off x="6865211" y="1711207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4" name="Cím 1">
            <a:extLst>
              <a:ext uri="{FF2B5EF4-FFF2-40B4-BE49-F238E27FC236}">
                <a16:creationId xmlns:a16="http://schemas.microsoft.com/office/drawing/2014/main" id="{632175FC-E666-28A8-B4EB-94F0D9659F00}"/>
              </a:ext>
            </a:extLst>
          </p:cNvPr>
          <p:cNvSpPr txBox="1">
            <a:spLocks/>
          </p:cNvSpPr>
          <p:nvPr/>
        </p:nvSpPr>
        <p:spPr>
          <a:xfrm>
            <a:off x="8324843" y="356741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3" name="Téglalap: lekerekített 2">
            <a:extLst>
              <a:ext uri="{FF2B5EF4-FFF2-40B4-BE49-F238E27FC236}">
                <a16:creationId xmlns:a16="http://schemas.microsoft.com/office/drawing/2014/main" id="{ACCEA16B-E88B-6717-BECF-CED9F5E55793}"/>
              </a:ext>
            </a:extLst>
          </p:cNvPr>
          <p:cNvSpPr/>
          <p:nvPr/>
        </p:nvSpPr>
        <p:spPr>
          <a:xfrm>
            <a:off x="2295525" y="5457043"/>
            <a:ext cx="10452453" cy="1411949"/>
          </a:xfrm>
          <a:prstGeom prst="roundRect">
            <a:avLst>
              <a:gd name="adj" fmla="val 27966"/>
            </a:avLst>
          </a:prstGeom>
          <a:solidFill>
            <a:srgbClr val="7955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CFB547CC-56AB-6518-F649-D32347FF4350}"/>
              </a:ext>
            </a:extLst>
          </p:cNvPr>
          <p:cNvSpPr txBox="1">
            <a:spLocks/>
          </p:cNvSpPr>
          <p:nvPr/>
        </p:nvSpPr>
        <p:spPr>
          <a:xfrm>
            <a:off x="2689098" y="5876316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dirty="0">
                <a:solidFill>
                  <a:schemeClr val="bg1"/>
                </a:solidFill>
              </a:rPr>
              <a:t>Földek</a:t>
            </a:r>
          </a:p>
        </p:txBody>
      </p:sp>
    </p:spTree>
    <p:extLst>
      <p:ext uri="{BB962C8B-B14F-4D97-AF65-F5344CB8AC3E}">
        <p14:creationId xmlns:p14="http://schemas.microsoft.com/office/powerpoint/2010/main" val="16167494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99F03-59DB-788F-4A89-45284ACFE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020EC1CA-B15C-F4C5-E2A1-0071B4F17D74}"/>
              </a:ext>
            </a:extLst>
          </p:cNvPr>
          <p:cNvSpPr/>
          <p:nvPr/>
        </p:nvSpPr>
        <p:spPr>
          <a:xfrm>
            <a:off x="11246023" y="5451398"/>
            <a:ext cx="1835378" cy="1371600"/>
          </a:xfrm>
          <a:prstGeom prst="roundRect">
            <a:avLst>
              <a:gd name="adj" fmla="val 27966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Téglalap: lekerekített 16">
            <a:extLst>
              <a:ext uri="{FF2B5EF4-FFF2-40B4-BE49-F238E27FC236}">
                <a16:creationId xmlns:a16="http://schemas.microsoft.com/office/drawing/2014/main" id="{B2613FCE-3834-0B33-A629-168FBB45E23A}"/>
              </a:ext>
            </a:extLst>
          </p:cNvPr>
          <p:cNvSpPr/>
          <p:nvPr/>
        </p:nvSpPr>
        <p:spPr>
          <a:xfrm>
            <a:off x="11246023" y="4079798"/>
            <a:ext cx="1701979" cy="1371600"/>
          </a:xfrm>
          <a:prstGeom prst="roundRect">
            <a:avLst>
              <a:gd name="adj" fmla="val 27966"/>
            </a:avLst>
          </a:prstGeom>
          <a:solidFill>
            <a:srgbClr val="CBC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B8CB4FB3-06BD-4F71-B218-B8A723CAA24E}"/>
              </a:ext>
            </a:extLst>
          </p:cNvPr>
          <p:cNvSpPr/>
          <p:nvPr/>
        </p:nvSpPr>
        <p:spPr>
          <a:xfrm>
            <a:off x="11246023" y="2708198"/>
            <a:ext cx="1537054" cy="1371600"/>
          </a:xfrm>
          <a:prstGeom prst="roundRect">
            <a:avLst>
              <a:gd name="adj" fmla="val 27966"/>
            </a:avLst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Téglalap: lekerekített 18">
            <a:extLst>
              <a:ext uri="{FF2B5EF4-FFF2-40B4-BE49-F238E27FC236}">
                <a16:creationId xmlns:a16="http://schemas.microsoft.com/office/drawing/2014/main" id="{DC41B834-AB7F-FE66-7978-100107C62F96}"/>
              </a:ext>
            </a:extLst>
          </p:cNvPr>
          <p:cNvSpPr/>
          <p:nvPr/>
        </p:nvSpPr>
        <p:spPr>
          <a:xfrm>
            <a:off x="11246023" y="1347803"/>
            <a:ext cx="1537054" cy="1371600"/>
          </a:xfrm>
          <a:prstGeom prst="roundRect">
            <a:avLst>
              <a:gd name="adj" fmla="val 27966"/>
            </a:avLst>
          </a:prstGeom>
          <a:solidFill>
            <a:srgbClr val="2E7D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grpSp>
        <p:nvGrpSpPr>
          <p:cNvPr id="2" name="Csoportba foglalás 1">
            <a:extLst>
              <a:ext uri="{FF2B5EF4-FFF2-40B4-BE49-F238E27FC236}">
                <a16:creationId xmlns:a16="http://schemas.microsoft.com/office/drawing/2014/main" id="{C817F9AB-A3B2-95B5-C372-DAF9EC444FD5}"/>
              </a:ext>
            </a:extLst>
          </p:cNvPr>
          <p:cNvGrpSpPr/>
          <p:nvPr/>
        </p:nvGrpSpPr>
        <p:grpSpPr>
          <a:xfrm>
            <a:off x="3081331" y="-62532"/>
            <a:ext cx="10487024" cy="1551531"/>
            <a:chOff x="2295525" y="5457043"/>
            <a:chExt cx="11047151" cy="1551531"/>
          </a:xfrm>
          <a:solidFill>
            <a:srgbClr val="795548"/>
          </a:solidFill>
        </p:grpSpPr>
        <p:sp>
          <p:nvSpPr>
            <p:cNvPr id="15" name="Téglalap: lekerekített 14">
              <a:extLst>
                <a:ext uri="{FF2B5EF4-FFF2-40B4-BE49-F238E27FC236}">
                  <a16:creationId xmlns:a16="http://schemas.microsoft.com/office/drawing/2014/main" id="{888C1EE2-624A-B764-CDFD-19F111768AFA}"/>
                </a:ext>
              </a:extLst>
            </p:cNvPr>
            <p:cNvSpPr/>
            <p:nvPr/>
          </p:nvSpPr>
          <p:spPr>
            <a:xfrm>
              <a:off x="2295525" y="5457043"/>
              <a:ext cx="10452453" cy="1411949"/>
            </a:xfrm>
            <a:prstGeom prst="roundRect">
              <a:avLst>
                <a:gd name="adj" fmla="val 2796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20" name="Cím 1">
              <a:extLst>
                <a:ext uri="{FF2B5EF4-FFF2-40B4-BE49-F238E27FC236}">
                  <a16:creationId xmlns:a16="http://schemas.microsoft.com/office/drawing/2014/main" id="{55B8E455-03C8-2156-9447-9D15700B78E5}"/>
                </a:ext>
              </a:extLst>
            </p:cNvPr>
            <p:cNvSpPr txBox="1">
              <a:spLocks/>
            </p:cNvSpPr>
            <p:nvPr/>
          </p:nvSpPr>
          <p:spPr>
            <a:xfrm>
              <a:off x="2689098" y="5876316"/>
              <a:ext cx="10653578" cy="1132258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hu-HU" dirty="0">
                  <a:solidFill>
                    <a:schemeClr val="bg1"/>
                  </a:solidFill>
                </a:rPr>
                <a:t>Földek</a:t>
              </a:r>
            </a:p>
          </p:txBody>
        </p:sp>
      </p:grpSp>
      <p:sp>
        <p:nvSpPr>
          <p:cNvPr id="21" name="Cím 1">
            <a:extLst>
              <a:ext uri="{FF2B5EF4-FFF2-40B4-BE49-F238E27FC236}">
                <a16:creationId xmlns:a16="http://schemas.microsoft.com/office/drawing/2014/main" id="{0A0AAFC2-C14B-3D26-BE8F-DBD6847CCDD3}"/>
              </a:ext>
            </a:extLst>
          </p:cNvPr>
          <p:cNvSpPr txBox="1">
            <a:spLocks/>
          </p:cNvSpPr>
          <p:nvPr/>
        </p:nvSpPr>
        <p:spPr>
          <a:xfrm>
            <a:off x="3841623" y="451438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2" name="Cím 1">
            <a:extLst>
              <a:ext uri="{FF2B5EF4-FFF2-40B4-BE49-F238E27FC236}">
                <a16:creationId xmlns:a16="http://schemas.microsoft.com/office/drawing/2014/main" id="{1EB6D163-9B12-963A-346B-371FE73E8588}"/>
              </a:ext>
            </a:extLst>
          </p:cNvPr>
          <p:cNvSpPr txBox="1">
            <a:spLocks/>
          </p:cNvSpPr>
          <p:nvPr/>
        </p:nvSpPr>
        <p:spPr>
          <a:xfrm>
            <a:off x="5603748" y="3093297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3" name="Cím 1">
            <a:extLst>
              <a:ext uri="{FF2B5EF4-FFF2-40B4-BE49-F238E27FC236}">
                <a16:creationId xmlns:a16="http://schemas.microsoft.com/office/drawing/2014/main" id="{C891489F-A243-182C-C132-4F1539FCC7AB}"/>
              </a:ext>
            </a:extLst>
          </p:cNvPr>
          <p:cNvSpPr txBox="1">
            <a:spLocks/>
          </p:cNvSpPr>
          <p:nvPr/>
        </p:nvSpPr>
        <p:spPr>
          <a:xfrm>
            <a:off x="6865211" y="1711207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4" name="Cím 1">
            <a:extLst>
              <a:ext uri="{FF2B5EF4-FFF2-40B4-BE49-F238E27FC236}">
                <a16:creationId xmlns:a16="http://schemas.microsoft.com/office/drawing/2014/main" id="{FF672160-057A-F35F-0E6B-9B2523C429BC}"/>
              </a:ext>
            </a:extLst>
          </p:cNvPr>
          <p:cNvSpPr txBox="1">
            <a:spLocks/>
          </p:cNvSpPr>
          <p:nvPr/>
        </p:nvSpPr>
        <p:spPr>
          <a:xfrm>
            <a:off x="8324843" y="356741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pic>
        <p:nvPicPr>
          <p:cNvPr id="9" name="Kép 8" descr="A képen szöveg, Betűtípus, szám, so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5F6E5992-AE67-4AE9-E4B0-B8001A018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435" y="2465840"/>
            <a:ext cx="10334625" cy="298555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62964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B8624-6838-8F25-F5BD-A2394D5CB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églalap: lekerekített 16">
            <a:extLst>
              <a:ext uri="{FF2B5EF4-FFF2-40B4-BE49-F238E27FC236}">
                <a16:creationId xmlns:a16="http://schemas.microsoft.com/office/drawing/2014/main" id="{63BFDB6E-17FA-D26A-3234-E75FB931DA66}"/>
              </a:ext>
            </a:extLst>
          </p:cNvPr>
          <p:cNvSpPr/>
          <p:nvPr/>
        </p:nvSpPr>
        <p:spPr>
          <a:xfrm>
            <a:off x="11246023" y="4079798"/>
            <a:ext cx="1701979" cy="1371600"/>
          </a:xfrm>
          <a:prstGeom prst="roundRect">
            <a:avLst>
              <a:gd name="adj" fmla="val 27966"/>
            </a:avLst>
          </a:prstGeom>
          <a:solidFill>
            <a:srgbClr val="CBC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5ABFC425-28FC-D1BD-8A91-315B33E50B51}"/>
              </a:ext>
            </a:extLst>
          </p:cNvPr>
          <p:cNvSpPr/>
          <p:nvPr/>
        </p:nvSpPr>
        <p:spPr>
          <a:xfrm>
            <a:off x="11246023" y="2708198"/>
            <a:ext cx="1537054" cy="1371600"/>
          </a:xfrm>
          <a:prstGeom prst="roundRect">
            <a:avLst>
              <a:gd name="adj" fmla="val 27966"/>
            </a:avLst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Téglalap: lekerekített 18">
            <a:extLst>
              <a:ext uri="{FF2B5EF4-FFF2-40B4-BE49-F238E27FC236}">
                <a16:creationId xmlns:a16="http://schemas.microsoft.com/office/drawing/2014/main" id="{686A4FEB-8D33-8CB5-CE51-A03921C2D314}"/>
              </a:ext>
            </a:extLst>
          </p:cNvPr>
          <p:cNvSpPr/>
          <p:nvPr/>
        </p:nvSpPr>
        <p:spPr>
          <a:xfrm>
            <a:off x="11246023" y="1347803"/>
            <a:ext cx="1537054" cy="1371600"/>
          </a:xfrm>
          <a:prstGeom prst="roundRect">
            <a:avLst>
              <a:gd name="adj" fmla="val 27966"/>
            </a:avLst>
          </a:prstGeom>
          <a:solidFill>
            <a:srgbClr val="2E7D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grpSp>
        <p:nvGrpSpPr>
          <p:cNvPr id="2" name="Csoportba foglalás 1">
            <a:extLst>
              <a:ext uri="{FF2B5EF4-FFF2-40B4-BE49-F238E27FC236}">
                <a16:creationId xmlns:a16="http://schemas.microsoft.com/office/drawing/2014/main" id="{947ABEF6-B1C7-B60D-DA16-9BAC73D298EA}"/>
              </a:ext>
            </a:extLst>
          </p:cNvPr>
          <p:cNvGrpSpPr/>
          <p:nvPr/>
        </p:nvGrpSpPr>
        <p:grpSpPr>
          <a:xfrm>
            <a:off x="11246022" y="-90156"/>
            <a:ext cx="2336627" cy="1551531"/>
            <a:chOff x="2295525" y="5457043"/>
            <a:chExt cx="11047151" cy="1551531"/>
          </a:xfrm>
          <a:solidFill>
            <a:srgbClr val="8BC34A"/>
          </a:solidFill>
        </p:grpSpPr>
        <p:sp>
          <p:nvSpPr>
            <p:cNvPr id="15" name="Téglalap: lekerekített 14">
              <a:extLst>
                <a:ext uri="{FF2B5EF4-FFF2-40B4-BE49-F238E27FC236}">
                  <a16:creationId xmlns:a16="http://schemas.microsoft.com/office/drawing/2014/main" id="{8813139B-5550-2B84-F667-27890426953A}"/>
                </a:ext>
              </a:extLst>
            </p:cNvPr>
            <p:cNvSpPr/>
            <p:nvPr/>
          </p:nvSpPr>
          <p:spPr>
            <a:xfrm>
              <a:off x="2295525" y="5457043"/>
              <a:ext cx="10452453" cy="1411949"/>
            </a:xfrm>
            <a:prstGeom prst="roundRect">
              <a:avLst>
                <a:gd name="adj" fmla="val 27966"/>
              </a:avLst>
            </a:prstGeom>
            <a:solidFill>
              <a:srgbClr val="79554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20" name="Cím 1">
              <a:extLst>
                <a:ext uri="{FF2B5EF4-FFF2-40B4-BE49-F238E27FC236}">
                  <a16:creationId xmlns:a16="http://schemas.microsoft.com/office/drawing/2014/main" id="{40695230-C267-B95E-3317-6FF2353649B4}"/>
                </a:ext>
              </a:extLst>
            </p:cNvPr>
            <p:cNvSpPr txBox="1">
              <a:spLocks/>
            </p:cNvSpPr>
            <p:nvPr/>
          </p:nvSpPr>
          <p:spPr>
            <a:xfrm>
              <a:off x="2689098" y="5876316"/>
              <a:ext cx="10653578" cy="1132258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hu-HU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Cím 1">
            <a:extLst>
              <a:ext uri="{FF2B5EF4-FFF2-40B4-BE49-F238E27FC236}">
                <a16:creationId xmlns:a16="http://schemas.microsoft.com/office/drawing/2014/main" id="{07704B4F-111F-7051-6A46-F7517E1BFF94}"/>
              </a:ext>
            </a:extLst>
          </p:cNvPr>
          <p:cNvSpPr txBox="1">
            <a:spLocks/>
          </p:cNvSpPr>
          <p:nvPr/>
        </p:nvSpPr>
        <p:spPr>
          <a:xfrm>
            <a:off x="3841623" y="451438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2" name="Cím 1">
            <a:extLst>
              <a:ext uri="{FF2B5EF4-FFF2-40B4-BE49-F238E27FC236}">
                <a16:creationId xmlns:a16="http://schemas.microsoft.com/office/drawing/2014/main" id="{E81955FE-DB18-A189-E834-221DE8B0FA6F}"/>
              </a:ext>
            </a:extLst>
          </p:cNvPr>
          <p:cNvSpPr txBox="1">
            <a:spLocks/>
          </p:cNvSpPr>
          <p:nvPr/>
        </p:nvSpPr>
        <p:spPr>
          <a:xfrm>
            <a:off x="5603748" y="3093297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3" name="Cím 1">
            <a:extLst>
              <a:ext uri="{FF2B5EF4-FFF2-40B4-BE49-F238E27FC236}">
                <a16:creationId xmlns:a16="http://schemas.microsoft.com/office/drawing/2014/main" id="{416321F3-3DD9-8AB3-6208-597F763023A2}"/>
              </a:ext>
            </a:extLst>
          </p:cNvPr>
          <p:cNvSpPr txBox="1">
            <a:spLocks/>
          </p:cNvSpPr>
          <p:nvPr/>
        </p:nvSpPr>
        <p:spPr>
          <a:xfrm>
            <a:off x="6865211" y="1711207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4" name="Cím 1">
            <a:extLst>
              <a:ext uri="{FF2B5EF4-FFF2-40B4-BE49-F238E27FC236}">
                <a16:creationId xmlns:a16="http://schemas.microsoft.com/office/drawing/2014/main" id="{E3401D0E-F82E-95AA-02E4-CD43749EE1BF}"/>
              </a:ext>
            </a:extLst>
          </p:cNvPr>
          <p:cNvSpPr txBox="1">
            <a:spLocks/>
          </p:cNvSpPr>
          <p:nvPr/>
        </p:nvSpPr>
        <p:spPr>
          <a:xfrm>
            <a:off x="8365940" y="329117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3" name="Téglalap: lekerekített 2">
            <a:extLst>
              <a:ext uri="{FF2B5EF4-FFF2-40B4-BE49-F238E27FC236}">
                <a16:creationId xmlns:a16="http://schemas.microsoft.com/office/drawing/2014/main" id="{2A706631-FC92-109F-2EF8-134880CFD4D2}"/>
              </a:ext>
            </a:extLst>
          </p:cNvPr>
          <p:cNvSpPr/>
          <p:nvPr/>
        </p:nvSpPr>
        <p:spPr>
          <a:xfrm>
            <a:off x="2295525" y="5457043"/>
            <a:ext cx="10452453" cy="1411949"/>
          </a:xfrm>
          <a:prstGeom prst="roundRect">
            <a:avLst>
              <a:gd name="adj" fmla="val 27966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E966268F-7A30-3A56-B145-E6A5C52A328E}"/>
              </a:ext>
            </a:extLst>
          </p:cNvPr>
          <p:cNvSpPr txBox="1">
            <a:spLocks/>
          </p:cNvSpPr>
          <p:nvPr/>
        </p:nvSpPr>
        <p:spPr>
          <a:xfrm>
            <a:off x="2689098" y="5876316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dirty="0">
                <a:solidFill>
                  <a:schemeClr val="bg1"/>
                </a:solidFill>
              </a:rPr>
              <a:t>Kiadások</a:t>
            </a:r>
          </a:p>
        </p:txBody>
      </p:sp>
    </p:spTree>
    <p:extLst>
      <p:ext uri="{BB962C8B-B14F-4D97-AF65-F5344CB8AC3E}">
        <p14:creationId xmlns:p14="http://schemas.microsoft.com/office/powerpoint/2010/main" val="2186607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4AE0B-E398-47B7-4123-5E7B51F0F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7DABD606-80D9-6054-1404-4E46EFCB547F}"/>
              </a:ext>
            </a:extLst>
          </p:cNvPr>
          <p:cNvSpPr/>
          <p:nvPr/>
        </p:nvSpPr>
        <p:spPr>
          <a:xfrm>
            <a:off x="11246023" y="5451398"/>
            <a:ext cx="1835378" cy="1371600"/>
          </a:xfrm>
          <a:prstGeom prst="roundRect">
            <a:avLst>
              <a:gd name="adj" fmla="val 27966"/>
            </a:avLst>
          </a:prstGeom>
          <a:solidFill>
            <a:srgbClr val="CBC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Téglalap: lekerekített 16">
            <a:extLst>
              <a:ext uri="{FF2B5EF4-FFF2-40B4-BE49-F238E27FC236}">
                <a16:creationId xmlns:a16="http://schemas.microsoft.com/office/drawing/2014/main" id="{140E645B-5485-4835-EFB3-219B3CFF7773}"/>
              </a:ext>
            </a:extLst>
          </p:cNvPr>
          <p:cNvSpPr/>
          <p:nvPr/>
        </p:nvSpPr>
        <p:spPr>
          <a:xfrm>
            <a:off x="11246023" y="4079798"/>
            <a:ext cx="1701979" cy="1371600"/>
          </a:xfrm>
          <a:prstGeom prst="roundRect">
            <a:avLst>
              <a:gd name="adj" fmla="val 27966"/>
            </a:avLst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86513DC6-4280-EB97-3BFA-F54C4AAF2245}"/>
              </a:ext>
            </a:extLst>
          </p:cNvPr>
          <p:cNvSpPr/>
          <p:nvPr/>
        </p:nvSpPr>
        <p:spPr>
          <a:xfrm>
            <a:off x="11246023" y="2708198"/>
            <a:ext cx="1537054" cy="1371600"/>
          </a:xfrm>
          <a:prstGeom prst="roundRect">
            <a:avLst>
              <a:gd name="adj" fmla="val 27966"/>
            </a:avLst>
          </a:prstGeom>
          <a:solidFill>
            <a:srgbClr val="2E7D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Téglalap: lekerekített 18">
            <a:extLst>
              <a:ext uri="{FF2B5EF4-FFF2-40B4-BE49-F238E27FC236}">
                <a16:creationId xmlns:a16="http://schemas.microsoft.com/office/drawing/2014/main" id="{F20AA896-83DD-B8E7-7914-E815E6533B24}"/>
              </a:ext>
            </a:extLst>
          </p:cNvPr>
          <p:cNvSpPr/>
          <p:nvPr/>
        </p:nvSpPr>
        <p:spPr>
          <a:xfrm>
            <a:off x="11246023" y="1321793"/>
            <a:ext cx="1537054" cy="1371600"/>
          </a:xfrm>
          <a:prstGeom prst="roundRect">
            <a:avLst>
              <a:gd name="adj" fmla="val 27966"/>
            </a:avLst>
          </a:prstGeom>
          <a:solidFill>
            <a:srgbClr val="7955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grpSp>
        <p:nvGrpSpPr>
          <p:cNvPr id="2" name="Csoportba foglalás 1">
            <a:extLst>
              <a:ext uri="{FF2B5EF4-FFF2-40B4-BE49-F238E27FC236}">
                <a16:creationId xmlns:a16="http://schemas.microsoft.com/office/drawing/2014/main" id="{8DA51CE8-1D3F-3F13-E562-70C28A018FCB}"/>
              </a:ext>
            </a:extLst>
          </p:cNvPr>
          <p:cNvGrpSpPr/>
          <p:nvPr/>
        </p:nvGrpSpPr>
        <p:grpSpPr>
          <a:xfrm>
            <a:off x="3081331" y="-144929"/>
            <a:ext cx="10487024" cy="1551531"/>
            <a:chOff x="2295525" y="5457043"/>
            <a:chExt cx="11047151" cy="1551531"/>
          </a:xfrm>
          <a:solidFill>
            <a:srgbClr val="92D050"/>
          </a:solidFill>
        </p:grpSpPr>
        <p:sp>
          <p:nvSpPr>
            <p:cNvPr id="15" name="Téglalap: lekerekített 14">
              <a:extLst>
                <a:ext uri="{FF2B5EF4-FFF2-40B4-BE49-F238E27FC236}">
                  <a16:creationId xmlns:a16="http://schemas.microsoft.com/office/drawing/2014/main" id="{2AD7C071-0E84-6E5F-09A3-D1E64624B4D1}"/>
                </a:ext>
              </a:extLst>
            </p:cNvPr>
            <p:cNvSpPr/>
            <p:nvPr/>
          </p:nvSpPr>
          <p:spPr>
            <a:xfrm>
              <a:off x="2295525" y="5457043"/>
              <a:ext cx="10452453" cy="1411949"/>
            </a:xfrm>
            <a:prstGeom prst="roundRect">
              <a:avLst>
                <a:gd name="adj" fmla="val 2796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20" name="Cím 1">
              <a:extLst>
                <a:ext uri="{FF2B5EF4-FFF2-40B4-BE49-F238E27FC236}">
                  <a16:creationId xmlns:a16="http://schemas.microsoft.com/office/drawing/2014/main" id="{671EF4C7-7490-B15B-17FD-802EA61E028C}"/>
                </a:ext>
              </a:extLst>
            </p:cNvPr>
            <p:cNvSpPr txBox="1">
              <a:spLocks/>
            </p:cNvSpPr>
            <p:nvPr/>
          </p:nvSpPr>
          <p:spPr>
            <a:xfrm>
              <a:off x="2689098" y="5876316"/>
              <a:ext cx="10653578" cy="1132258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hu-HU" dirty="0">
                  <a:solidFill>
                    <a:schemeClr val="bg1"/>
                  </a:solidFill>
                </a:rPr>
                <a:t>Kiadások</a:t>
              </a:r>
            </a:p>
          </p:txBody>
        </p:sp>
      </p:grpSp>
      <p:sp>
        <p:nvSpPr>
          <p:cNvPr id="21" name="Cím 1">
            <a:extLst>
              <a:ext uri="{FF2B5EF4-FFF2-40B4-BE49-F238E27FC236}">
                <a16:creationId xmlns:a16="http://schemas.microsoft.com/office/drawing/2014/main" id="{AA76F0B8-8781-C7F5-18C2-C2218141F3C8}"/>
              </a:ext>
            </a:extLst>
          </p:cNvPr>
          <p:cNvSpPr txBox="1">
            <a:spLocks/>
          </p:cNvSpPr>
          <p:nvPr/>
        </p:nvSpPr>
        <p:spPr>
          <a:xfrm>
            <a:off x="3841623" y="451438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2" name="Cím 1">
            <a:extLst>
              <a:ext uri="{FF2B5EF4-FFF2-40B4-BE49-F238E27FC236}">
                <a16:creationId xmlns:a16="http://schemas.microsoft.com/office/drawing/2014/main" id="{504925D5-D9A7-0970-4242-088C083B780C}"/>
              </a:ext>
            </a:extLst>
          </p:cNvPr>
          <p:cNvSpPr txBox="1">
            <a:spLocks/>
          </p:cNvSpPr>
          <p:nvPr/>
        </p:nvSpPr>
        <p:spPr>
          <a:xfrm>
            <a:off x="5603748" y="3093297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3" name="Cím 1">
            <a:extLst>
              <a:ext uri="{FF2B5EF4-FFF2-40B4-BE49-F238E27FC236}">
                <a16:creationId xmlns:a16="http://schemas.microsoft.com/office/drawing/2014/main" id="{E559DCF1-3C70-3CAD-4A98-C8A31FC58ED5}"/>
              </a:ext>
            </a:extLst>
          </p:cNvPr>
          <p:cNvSpPr txBox="1">
            <a:spLocks/>
          </p:cNvSpPr>
          <p:nvPr/>
        </p:nvSpPr>
        <p:spPr>
          <a:xfrm>
            <a:off x="6865211" y="1711207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4" name="Cím 1">
            <a:extLst>
              <a:ext uri="{FF2B5EF4-FFF2-40B4-BE49-F238E27FC236}">
                <a16:creationId xmlns:a16="http://schemas.microsoft.com/office/drawing/2014/main" id="{87C01E06-D040-6B4C-35BC-1D9C0AC8F71D}"/>
              </a:ext>
            </a:extLst>
          </p:cNvPr>
          <p:cNvSpPr txBox="1">
            <a:spLocks/>
          </p:cNvSpPr>
          <p:nvPr/>
        </p:nvSpPr>
        <p:spPr>
          <a:xfrm>
            <a:off x="8324843" y="356741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232C0C6A-D42C-DB75-0E08-2C072AAD8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836" y="2007593"/>
            <a:ext cx="8078327" cy="373432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86945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D423B-CB1E-DE5B-372A-3FADEDE8D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églalap: lekerekített 16">
            <a:extLst>
              <a:ext uri="{FF2B5EF4-FFF2-40B4-BE49-F238E27FC236}">
                <a16:creationId xmlns:a16="http://schemas.microsoft.com/office/drawing/2014/main" id="{59915B87-B9F9-A5D1-693A-A1FD3C3DDF92}"/>
              </a:ext>
            </a:extLst>
          </p:cNvPr>
          <p:cNvSpPr/>
          <p:nvPr/>
        </p:nvSpPr>
        <p:spPr>
          <a:xfrm>
            <a:off x="11246023" y="4079798"/>
            <a:ext cx="1701979" cy="1371600"/>
          </a:xfrm>
          <a:prstGeom prst="roundRect">
            <a:avLst>
              <a:gd name="adj" fmla="val 27966"/>
            </a:avLst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C2A87F88-7F49-DF79-DAFB-6B89B8271334}"/>
              </a:ext>
            </a:extLst>
          </p:cNvPr>
          <p:cNvSpPr/>
          <p:nvPr/>
        </p:nvSpPr>
        <p:spPr>
          <a:xfrm>
            <a:off x="11246023" y="2708198"/>
            <a:ext cx="1537054" cy="1371600"/>
          </a:xfrm>
          <a:prstGeom prst="roundRect">
            <a:avLst>
              <a:gd name="adj" fmla="val 27966"/>
            </a:avLst>
          </a:prstGeom>
          <a:solidFill>
            <a:srgbClr val="2E7D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Téglalap: lekerekített 18">
            <a:extLst>
              <a:ext uri="{FF2B5EF4-FFF2-40B4-BE49-F238E27FC236}">
                <a16:creationId xmlns:a16="http://schemas.microsoft.com/office/drawing/2014/main" id="{726FBB31-2FB7-67E3-7FB4-B8DFC0C6A004}"/>
              </a:ext>
            </a:extLst>
          </p:cNvPr>
          <p:cNvSpPr/>
          <p:nvPr/>
        </p:nvSpPr>
        <p:spPr>
          <a:xfrm>
            <a:off x="11246023" y="1321793"/>
            <a:ext cx="1537054" cy="1371600"/>
          </a:xfrm>
          <a:prstGeom prst="roundRect">
            <a:avLst>
              <a:gd name="adj" fmla="val 27966"/>
            </a:avLst>
          </a:prstGeom>
          <a:solidFill>
            <a:srgbClr val="7955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grpSp>
        <p:nvGrpSpPr>
          <p:cNvPr id="2" name="Csoportba foglalás 1">
            <a:extLst>
              <a:ext uri="{FF2B5EF4-FFF2-40B4-BE49-F238E27FC236}">
                <a16:creationId xmlns:a16="http://schemas.microsoft.com/office/drawing/2014/main" id="{6795C78C-9FBD-E029-D12A-962AE6CC6D19}"/>
              </a:ext>
            </a:extLst>
          </p:cNvPr>
          <p:cNvGrpSpPr/>
          <p:nvPr/>
        </p:nvGrpSpPr>
        <p:grpSpPr>
          <a:xfrm>
            <a:off x="11246022" y="-90156"/>
            <a:ext cx="2336627" cy="1551531"/>
            <a:chOff x="2295525" y="5457043"/>
            <a:chExt cx="11047151" cy="1551531"/>
          </a:xfrm>
          <a:solidFill>
            <a:srgbClr val="92D050"/>
          </a:solidFill>
        </p:grpSpPr>
        <p:sp>
          <p:nvSpPr>
            <p:cNvPr id="15" name="Téglalap: lekerekített 14">
              <a:extLst>
                <a:ext uri="{FF2B5EF4-FFF2-40B4-BE49-F238E27FC236}">
                  <a16:creationId xmlns:a16="http://schemas.microsoft.com/office/drawing/2014/main" id="{7CE68C94-9073-5208-E176-FB9106C3869A}"/>
                </a:ext>
              </a:extLst>
            </p:cNvPr>
            <p:cNvSpPr/>
            <p:nvPr/>
          </p:nvSpPr>
          <p:spPr>
            <a:xfrm>
              <a:off x="2295525" y="5457043"/>
              <a:ext cx="10452453" cy="1411949"/>
            </a:xfrm>
            <a:prstGeom prst="roundRect">
              <a:avLst>
                <a:gd name="adj" fmla="val 2796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20" name="Cím 1">
              <a:extLst>
                <a:ext uri="{FF2B5EF4-FFF2-40B4-BE49-F238E27FC236}">
                  <a16:creationId xmlns:a16="http://schemas.microsoft.com/office/drawing/2014/main" id="{A81E59BC-E780-523A-7F87-645080851ACF}"/>
                </a:ext>
              </a:extLst>
            </p:cNvPr>
            <p:cNvSpPr txBox="1">
              <a:spLocks/>
            </p:cNvSpPr>
            <p:nvPr/>
          </p:nvSpPr>
          <p:spPr>
            <a:xfrm>
              <a:off x="2689098" y="5876316"/>
              <a:ext cx="10653578" cy="1132258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hu-HU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Cím 1">
            <a:extLst>
              <a:ext uri="{FF2B5EF4-FFF2-40B4-BE49-F238E27FC236}">
                <a16:creationId xmlns:a16="http://schemas.microsoft.com/office/drawing/2014/main" id="{E297DB8C-83B4-A3DE-07C4-7B0508942A90}"/>
              </a:ext>
            </a:extLst>
          </p:cNvPr>
          <p:cNvSpPr txBox="1">
            <a:spLocks/>
          </p:cNvSpPr>
          <p:nvPr/>
        </p:nvSpPr>
        <p:spPr>
          <a:xfrm>
            <a:off x="3841623" y="451438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2" name="Cím 1">
            <a:extLst>
              <a:ext uri="{FF2B5EF4-FFF2-40B4-BE49-F238E27FC236}">
                <a16:creationId xmlns:a16="http://schemas.microsoft.com/office/drawing/2014/main" id="{291EA67D-B518-9ECC-2D07-7E1A3DA984DD}"/>
              </a:ext>
            </a:extLst>
          </p:cNvPr>
          <p:cNvSpPr txBox="1">
            <a:spLocks/>
          </p:cNvSpPr>
          <p:nvPr/>
        </p:nvSpPr>
        <p:spPr>
          <a:xfrm>
            <a:off x="5603748" y="3093297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3" name="Cím 1">
            <a:extLst>
              <a:ext uri="{FF2B5EF4-FFF2-40B4-BE49-F238E27FC236}">
                <a16:creationId xmlns:a16="http://schemas.microsoft.com/office/drawing/2014/main" id="{F27ED1FF-B23F-AD77-C0FB-10377F5285C2}"/>
              </a:ext>
            </a:extLst>
          </p:cNvPr>
          <p:cNvSpPr txBox="1">
            <a:spLocks/>
          </p:cNvSpPr>
          <p:nvPr/>
        </p:nvSpPr>
        <p:spPr>
          <a:xfrm>
            <a:off x="6865211" y="1711207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4" name="Cím 1">
            <a:extLst>
              <a:ext uri="{FF2B5EF4-FFF2-40B4-BE49-F238E27FC236}">
                <a16:creationId xmlns:a16="http://schemas.microsoft.com/office/drawing/2014/main" id="{7F883ED7-C962-B69B-CAF5-DB76F5ACA9A7}"/>
              </a:ext>
            </a:extLst>
          </p:cNvPr>
          <p:cNvSpPr txBox="1">
            <a:spLocks/>
          </p:cNvSpPr>
          <p:nvPr/>
        </p:nvSpPr>
        <p:spPr>
          <a:xfrm>
            <a:off x="8324843" y="356741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3" name="Téglalap: lekerekített 2">
            <a:extLst>
              <a:ext uri="{FF2B5EF4-FFF2-40B4-BE49-F238E27FC236}">
                <a16:creationId xmlns:a16="http://schemas.microsoft.com/office/drawing/2014/main" id="{EBE3B00F-139E-D77E-A951-518BA1C5B6AE}"/>
              </a:ext>
            </a:extLst>
          </p:cNvPr>
          <p:cNvSpPr/>
          <p:nvPr/>
        </p:nvSpPr>
        <p:spPr>
          <a:xfrm>
            <a:off x="2295525" y="5457043"/>
            <a:ext cx="10452453" cy="1411949"/>
          </a:xfrm>
          <a:prstGeom prst="roundRect">
            <a:avLst>
              <a:gd name="adj" fmla="val 27966"/>
            </a:avLst>
          </a:prstGeom>
          <a:solidFill>
            <a:srgbClr val="CBC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6671E193-7784-4895-00A0-D6F46D51E0EA}"/>
              </a:ext>
            </a:extLst>
          </p:cNvPr>
          <p:cNvSpPr txBox="1">
            <a:spLocks/>
          </p:cNvSpPr>
          <p:nvPr/>
        </p:nvSpPr>
        <p:spPr>
          <a:xfrm>
            <a:off x="2689098" y="5876316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dirty="0">
                <a:solidFill>
                  <a:schemeClr val="bg1"/>
                </a:solidFill>
              </a:rPr>
              <a:t>Tervek</a:t>
            </a:r>
          </a:p>
        </p:txBody>
      </p:sp>
    </p:spTree>
    <p:extLst>
      <p:ext uri="{BB962C8B-B14F-4D97-AF65-F5344CB8AC3E}">
        <p14:creationId xmlns:p14="http://schemas.microsoft.com/office/powerpoint/2010/main" val="300368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8F246-76F6-B686-165A-27B7FC779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C9DD1780-32CD-E584-F400-DAB211DDDC45}"/>
              </a:ext>
            </a:extLst>
          </p:cNvPr>
          <p:cNvSpPr/>
          <p:nvPr/>
        </p:nvSpPr>
        <p:spPr>
          <a:xfrm>
            <a:off x="11246023" y="5486400"/>
            <a:ext cx="1835378" cy="1371600"/>
          </a:xfrm>
          <a:prstGeom prst="roundRect">
            <a:avLst>
              <a:gd name="adj" fmla="val 27966"/>
            </a:avLst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Téglalap: lekerekített 16">
            <a:extLst>
              <a:ext uri="{FF2B5EF4-FFF2-40B4-BE49-F238E27FC236}">
                <a16:creationId xmlns:a16="http://schemas.microsoft.com/office/drawing/2014/main" id="{021C7690-1360-E13A-CDE5-BACEBEE3C40F}"/>
              </a:ext>
            </a:extLst>
          </p:cNvPr>
          <p:cNvSpPr/>
          <p:nvPr/>
        </p:nvSpPr>
        <p:spPr>
          <a:xfrm>
            <a:off x="11246023" y="4114800"/>
            <a:ext cx="1701979" cy="1371600"/>
          </a:xfrm>
          <a:prstGeom prst="roundRect">
            <a:avLst>
              <a:gd name="adj" fmla="val 27966"/>
            </a:avLst>
          </a:prstGeom>
          <a:solidFill>
            <a:srgbClr val="2E7D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2B4C12ED-EAA4-0368-7CF8-6CEFE4B9B61C}"/>
              </a:ext>
            </a:extLst>
          </p:cNvPr>
          <p:cNvSpPr/>
          <p:nvPr/>
        </p:nvSpPr>
        <p:spPr>
          <a:xfrm>
            <a:off x="11246023" y="2740631"/>
            <a:ext cx="1537054" cy="1371600"/>
          </a:xfrm>
          <a:prstGeom prst="roundRect">
            <a:avLst>
              <a:gd name="adj" fmla="val 27966"/>
            </a:avLst>
          </a:prstGeom>
          <a:solidFill>
            <a:srgbClr val="7955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Téglalap: lekerekített 18">
            <a:extLst>
              <a:ext uri="{FF2B5EF4-FFF2-40B4-BE49-F238E27FC236}">
                <a16:creationId xmlns:a16="http://schemas.microsoft.com/office/drawing/2014/main" id="{72476226-92F8-F7EF-C8F3-3EFEE0EE76EE}"/>
              </a:ext>
            </a:extLst>
          </p:cNvPr>
          <p:cNvSpPr/>
          <p:nvPr/>
        </p:nvSpPr>
        <p:spPr>
          <a:xfrm>
            <a:off x="11246023" y="1391379"/>
            <a:ext cx="1537054" cy="1371600"/>
          </a:xfrm>
          <a:prstGeom prst="roundRect">
            <a:avLst>
              <a:gd name="adj" fmla="val 27966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grpSp>
        <p:nvGrpSpPr>
          <p:cNvPr id="2" name="Csoportba foglalás 1">
            <a:extLst>
              <a:ext uri="{FF2B5EF4-FFF2-40B4-BE49-F238E27FC236}">
                <a16:creationId xmlns:a16="http://schemas.microsoft.com/office/drawing/2014/main" id="{3BBD8A0C-8E33-24C8-B33C-650CE6CC95BA}"/>
              </a:ext>
            </a:extLst>
          </p:cNvPr>
          <p:cNvGrpSpPr/>
          <p:nvPr/>
        </p:nvGrpSpPr>
        <p:grpSpPr>
          <a:xfrm>
            <a:off x="3095626" y="-90156"/>
            <a:ext cx="10487024" cy="1551531"/>
            <a:chOff x="2295525" y="5457043"/>
            <a:chExt cx="11047151" cy="1551531"/>
          </a:xfrm>
          <a:solidFill>
            <a:srgbClr val="CBC889"/>
          </a:solidFill>
        </p:grpSpPr>
        <p:sp>
          <p:nvSpPr>
            <p:cNvPr id="15" name="Téglalap: lekerekített 14">
              <a:extLst>
                <a:ext uri="{FF2B5EF4-FFF2-40B4-BE49-F238E27FC236}">
                  <a16:creationId xmlns:a16="http://schemas.microsoft.com/office/drawing/2014/main" id="{AE51A9DD-7FE6-9821-7192-8DF7C4EEB5A8}"/>
                </a:ext>
              </a:extLst>
            </p:cNvPr>
            <p:cNvSpPr/>
            <p:nvPr/>
          </p:nvSpPr>
          <p:spPr>
            <a:xfrm>
              <a:off x="2295525" y="5457043"/>
              <a:ext cx="10452453" cy="1411949"/>
            </a:xfrm>
            <a:prstGeom prst="roundRect">
              <a:avLst>
                <a:gd name="adj" fmla="val 2796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20" name="Cím 1">
              <a:extLst>
                <a:ext uri="{FF2B5EF4-FFF2-40B4-BE49-F238E27FC236}">
                  <a16:creationId xmlns:a16="http://schemas.microsoft.com/office/drawing/2014/main" id="{543DC34C-1695-2B03-9FD5-D0523A32F130}"/>
                </a:ext>
              </a:extLst>
            </p:cNvPr>
            <p:cNvSpPr txBox="1">
              <a:spLocks/>
            </p:cNvSpPr>
            <p:nvPr/>
          </p:nvSpPr>
          <p:spPr>
            <a:xfrm>
              <a:off x="2689098" y="5876316"/>
              <a:ext cx="10653578" cy="1132258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hu-HU" dirty="0">
                  <a:solidFill>
                    <a:schemeClr val="bg1"/>
                  </a:solidFill>
                </a:rPr>
                <a:t>Tervek</a:t>
              </a:r>
            </a:p>
          </p:txBody>
        </p:sp>
      </p:grpSp>
      <p:sp>
        <p:nvSpPr>
          <p:cNvPr id="21" name="Cím 1">
            <a:extLst>
              <a:ext uri="{FF2B5EF4-FFF2-40B4-BE49-F238E27FC236}">
                <a16:creationId xmlns:a16="http://schemas.microsoft.com/office/drawing/2014/main" id="{017224FC-D3C4-DE01-B661-D5FE0AE9CB31}"/>
              </a:ext>
            </a:extLst>
          </p:cNvPr>
          <p:cNvSpPr txBox="1">
            <a:spLocks/>
          </p:cNvSpPr>
          <p:nvPr/>
        </p:nvSpPr>
        <p:spPr>
          <a:xfrm>
            <a:off x="3841623" y="451438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2" name="Cím 1">
            <a:extLst>
              <a:ext uri="{FF2B5EF4-FFF2-40B4-BE49-F238E27FC236}">
                <a16:creationId xmlns:a16="http://schemas.microsoft.com/office/drawing/2014/main" id="{A1D4AAE6-7A85-AB90-95F1-60EC778E905C}"/>
              </a:ext>
            </a:extLst>
          </p:cNvPr>
          <p:cNvSpPr txBox="1">
            <a:spLocks/>
          </p:cNvSpPr>
          <p:nvPr/>
        </p:nvSpPr>
        <p:spPr>
          <a:xfrm>
            <a:off x="5603748" y="3093297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3" name="Cím 1">
            <a:extLst>
              <a:ext uri="{FF2B5EF4-FFF2-40B4-BE49-F238E27FC236}">
                <a16:creationId xmlns:a16="http://schemas.microsoft.com/office/drawing/2014/main" id="{ADFE399F-3D71-0518-E24C-B42CB548195C}"/>
              </a:ext>
            </a:extLst>
          </p:cNvPr>
          <p:cNvSpPr txBox="1">
            <a:spLocks/>
          </p:cNvSpPr>
          <p:nvPr/>
        </p:nvSpPr>
        <p:spPr>
          <a:xfrm>
            <a:off x="6865211" y="1711207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4" name="Cím 1">
            <a:extLst>
              <a:ext uri="{FF2B5EF4-FFF2-40B4-BE49-F238E27FC236}">
                <a16:creationId xmlns:a16="http://schemas.microsoft.com/office/drawing/2014/main" id="{A35A8657-CB5B-C212-EDF4-7624E14C86AA}"/>
              </a:ext>
            </a:extLst>
          </p:cNvPr>
          <p:cNvSpPr txBox="1">
            <a:spLocks/>
          </p:cNvSpPr>
          <p:nvPr/>
        </p:nvSpPr>
        <p:spPr>
          <a:xfrm>
            <a:off x="8324843" y="356741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09364B6E-13FD-368C-1CBA-762B3DB4C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45" y="2819284"/>
            <a:ext cx="10113406" cy="281254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8366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8BA46-0C95-654E-C60E-DB60FEF3E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églalap: lekerekített 16">
            <a:extLst>
              <a:ext uri="{FF2B5EF4-FFF2-40B4-BE49-F238E27FC236}">
                <a16:creationId xmlns:a16="http://schemas.microsoft.com/office/drawing/2014/main" id="{8F430BA9-EC88-6FA5-1F9D-AB556E7853FA}"/>
              </a:ext>
            </a:extLst>
          </p:cNvPr>
          <p:cNvSpPr/>
          <p:nvPr/>
        </p:nvSpPr>
        <p:spPr>
          <a:xfrm>
            <a:off x="11246023" y="4079798"/>
            <a:ext cx="1701979" cy="1371600"/>
          </a:xfrm>
          <a:prstGeom prst="roundRect">
            <a:avLst>
              <a:gd name="adj" fmla="val 27966"/>
            </a:avLst>
          </a:prstGeom>
          <a:solidFill>
            <a:srgbClr val="2E7D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B2B84157-0FB3-68E6-5D81-3F6B9D70377C}"/>
              </a:ext>
            </a:extLst>
          </p:cNvPr>
          <p:cNvSpPr/>
          <p:nvPr/>
        </p:nvSpPr>
        <p:spPr>
          <a:xfrm>
            <a:off x="11264198" y="2690824"/>
            <a:ext cx="1537054" cy="1371600"/>
          </a:xfrm>
          <a:prstGeom prst="roundRect">
            <a:avLst>
              <a:gd name="adj" fmla="val 27966"/>
            </a:avLst>
          </a:prstGeom>
          <a:solidFill>
            <a:srgbClr val="7955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Téglalap: lekerekített 18">
            <a:extLst>
              <a:ext uri="{FF2B5EF4-FFF2-40B4-BE49-F238E27FC236}">
                <a16:creationId xmlns:a16="http://schemas.microsoft.com/office/drawing/2014/main" id="{C6C32418-CD69-49DE-732D-3925CC82BF5E}"/>
              </a:ext>
            </a:extLst>
          </p:cNvPr>
          <p:cNvSpPr/>
          <p:nvPr/>
        </p:nvSpPr>
        <p:spPr>
          <a:xfrm>
            <a:off x="11246023" y="1321793"/>
            <a:ext cx="1537054" cy="1371600"/>
          </a:xfrm>
          <a:prstGeom prst="roundRect">
            <a:avLst>
              <a:gd name="adj" fmla="val 27966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grpSp>
        <p:nvGrpSpPr>
          <p:cNvPr id="2" name="Csoportba foglalás 1">
            <a:extLst>
              <a:ext uri="{FF2B5EF4-FFF2-40B4-BE49-F238E27FC236}">
                <a16:creationId xmlns:a16="http://schemas.microsoft.com/office/drawing/2014/main" id="{21BF266B-190D-3A4C-218E-B389345DE6B2}"/>
              </a:ext>
            </a:extLst>
          </p:cNvPr>
          <p:cNvGrpSpPr/>
          <p:nvPr/>
        </p:nvGrpSpPr>
        <p:grpSpPr>
          <a:xfrm>
            <a:off x="11246022" y="-90156"/>
            <a:ext cx="2336627" cy="1551531"/>
            <a:chOff x="2295525" y="5457043"/>
            <a:chExt cx="11047151" cy="1551531"/>
          </a:xfrm>
          <a:solidFill>
            <a:srgbClr val="CBC889"/>
          </a:solidFill>
        </p:grpSpPr>
        <p:sp>
          <p:nvSpPr>
            <p:cNvPr id="15" name="Téglalap: lekerekített 14">
              <a:extLst>
                <a:ext uri="{FF2B5EF4-FFF2-40B4-BE49-F238E27FC236}">
                  <a16:creationId xmlns:a16="http://schemas.microsoft.com/office/drawing/2014/main" id="{0AB7E982-F37D-1A6E-8343-2F9D2F4C3329}"/>
                </a:ext>
              </a:extLst>
            </p:cNvPr>
            <p:cNvSpPr/>
            <p:nvPr/>
          </p:nvSpPr>
          <p:spPr>
            <a:xfrm>
              <a:off x="2295525" y="5457043"/>
              <a:ext cx="10452453" cy="1411949"/>
            </a:xfrm>
            <a:prstGeom prst="roundRect">
              <a:avLst>
                <a:gd name="adj" fmla="val 2796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20" name="Cím 1">
              <a:extLst>
                <a:ext uri="{FF2B5EF4-FFF2-40B4-BE49-F238E27FC236}">
                  <a16:creationId xmlns:a16="http://schemas.microsoft.com/office/drawing/2014/main" id="{183F55B1-BF61-FECC-025F-B633292EE01E}"/>
                </a:ext>
              </a:extLst>
            </p:cNvPr>
            <p:cNvSpPr txBox="1">
              <a:spLocks/>
            </p:cNvSpPr>
            <p:nvPr/>
          </p:nvSpPr>
          <p:spPr>
            <a:xfrm>
              <a:off x="2689098" y="5876316"/>
              <a:ext cx="10653578" cy="1132258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hu-HU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Cím 1">
            <a:extLst>
              <a:ext uri="{FF2B5EF4-FFF2-40B4-BE49-F238E27FC236}">
                <a16:creationId xmlns:a16="http://schemas.microsoft.com/office/drawing/2014/main" id="{E38AC100-6EFE-1B27-D3EB-FC7680A8E80F}"/>
              </a:ext>
            </a:extLst>
          </p:cNvPr>
          <p:cNvSpPr txBox="1">
            <a:spLocks/>
          </p:cNvSpPr>
          <p:nvPr/>
        </p:nvSpPr>
        <p:spPr>
          <a:xfrm>
            <a:off x="3841623" y="451438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2" name="Cím 1">
            <a:extLst>
              <a:ext uri="{FF2B5EF4-FFF2-40B4-BE49-F238E27FC236}">
                <a16:creationId xmlns:a16="http://schemas.microsoft.com/office/drawing/2014/main" id="{BE31AF54-B09B-6EB8-2A8A-BC579F9EB663}"/>
              </a:ext>
            </a:extLst>
          </p:cNvPr>
          <p:cNvSpPr txBox="1">
            <a:spLocks/>
          </p:cNvSpPr>
          <p:nvPr/>
        </p:nvSpPr>
        <p:spPr>
          <a:xfrm>
            <a:off x="5603748" y="3093297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3" name="Cím 1">
            <a:extLst>
              <a:ext uri="{FF2B5EF4-FFF2-40B4-BE49-F238E27FC236}">
                <a16:creationId xmlns:a16="http://schemas.microsoft.com/office/drawing/2014/main" id="{5AE9E28A-9ABC-E7CF-F7A1-8426A92D58EE}"/>
              </a:ext>
            </a:extLst>
          </p:cNvPr>
          <p:cNvSpPr txBox="1">
            <a:spLocks/>
          </p:cNvSpPr>
          <p:nvPr/>
        </p:nvSpPr>
        <p:spPr>
          <a:xfrm>
            <a:off x="6865211" y="1711207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4" name="Cím 1">
            <a:extLst>
              <a:ext uri="{FF2B5EF4-FFF2-40B4-BE49-F238E27FC236}">
                <a16:creationId xmlns:a16="http://schemas.microsoft.com/office/drawing/2014/main" id="{4A08F872-2B7B-3620-FB64-CF0145A1DA26}"/>
              </a:ext>
            </a:extLst>
          </p:cNvPr>
          <p:cNvSpPr txBox="1">
            <a:spLocks/>
          </p:cNvSpPr>
          <p:nvPr/>
        </p:nvSpPr>
        <p:spPr>
          <a:xfrm>
            <a:off x="8324843" y="356741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3" name="Téglalap: lekerekített 2">
            <a:extLst>
              <a:ext uri="{FF2B5EF4-FFF2-40B4-BE49-F238E27FC236}">
                <a16:creationId xmlns:a16="http://schemas.microsoft.com/office/drawing/2014/main" id="{B2A22B2D-2EA5-978B-0778-558F340B2745}"/>
              </a:ext>
            </a:extLst>
          </p:cNvPr>
          <p:cNvSpPr/>
          <p:nvPr/>
        </p:nvSpPr>
        <p:spPr>
          <a:xfrm>
            <a:off x="2295525" y="5457043"/>
            <a:ext cx="10452453" cy="1411949"/>
          </a:xfrm>
          <a:prstGeom prst="roundRect">
            <a:avLst>
              <a:gd name="adj" fmla="val 27966"/>
            </a:avLst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337AF875-74B4-23DC-1FFC-8AA9D1632BB5}"/>
              </a:ext>
            </a:extLst>
          </p:cNvPr>
          <p:cNvSpPr txBox="1">
            <a:spLocks/>
          </p:cNvSpPr>
          <p:nvPr/>
        </p:nvSpPr>
        <p:spPr>
          <a:xfrm>
            <a:off x="2689098" y="5876316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dirty="0">
                <a:solidFill>
                  <a:schemeClr val="bg1"/>
                </a:solidFill>
              </a:rPr>
              <a:t>AI súgó</a:t>
            </a:r>
          </a:p>
        </p:txBody>
      </p:sp>
    </p:spTree>
    <p:extLst>
      <p:ext uri="{BB962C8B-B14F-4D97-AF65-F5344CB8AC3E}">
        <p14:creationId xmlns:p14="http://schemas.microsoft.com/office/powerpoint/2010/main" val="28468563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C2E37-EA78-A4C3-1E10-E2B73EF7D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C512F4B0-DA7C-8867-AA4D-FA388213FB9D}"/>
              </a:ext>
            </a:extLst>
          </p:cNvPr>
          <p:cNvSpPr/>
          <p:nvPr/>
        </p:nvSpPr>
        <p:spPr>
          <a:xfrm>
            <a:off x="11246023" y="5486400"/>
            <a:ext cx="1835378" cy="1371600"/>
          </a:xfrm>
          <a:prstGeom prst="roundRect">
            <a:avLst>
              <a:gd name="adj" fmla="val 27966"/>
            </a:avLst>
          </a:prstGeom>
          <a:solidFill>
            <a:srgbClr val="2E7D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Téglalap: lekerekített 16">
            <a:extLst>
              <a:ext uri="{FF2B5EF4-FFF2-40B4-BE49-F238E27FC236}">
                <a16:creationId xmlns:a16="http://schemas.microsoft.com/office/drawing/2014/main" id="{E73FA0B1-41B7-B322-95C5-84064AC2782E}"/>
              </a:ext>
            </a:extLst>
          </p:cNvPr>
          <p:cNvSpPr/>
          <p:nvPr/>
        </p:nvSpPr>
        <p:spPr>
          <a:xfrm>
            <a:off x="11246023" y="4114800"/>
            <a:ext cx="1701979" cy="1371600"/>
          </a:xfrm>
          <a:prstGeom prst="roundRect">
            <a:avLst>
              <a:gd name="adj" fmla="val 27966"/>
            </a:avLst>
          </a:prstGeom>
          <a:solidFill>
            <a:srgbClr val="7955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B66D8524-7A4E-DA0A-E0AB-F1D789188548}"/>
              </a:ext>
            </a:extLst>
          </p:cNvPr>
          <p:cNvSpPr/>
          <p:nvPr/>
        </p:nvSpPr>
        <p:spPr>
          <a:xfrm>
            <a:off x="11246023" y="2762979"/>
            <a:ext cx="1537054" cy="1371600"/>
          </a:xfrm>
          <a:prstGeom prst="roundRect">
            <a:avLst>
              <a:gd name="adj" fmla="val 27966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Téglalap: lekerekített 18">
            <a:extLst>
              <a:ext uri="{FF2B5EF4-FFF2-40B4-BE49-F238E27FC236}">
                <a16:creationId xmlns:a16="http://schemas.microsoft.com/office/drawing/2014/main" id="{A661F6A5-F8F2-E0C9-005B-7355A1126086}"/>
              </a:ext>
            </a:extLst>
          </p:cNvPr>
          <p:cNvSpPr/>
          <p:nvPr/>
        </p:nvSpPr>
        <p:spPr>
          <a:xfrm>
            <a:off x="11246023" y="1371600"/>
            <a:ext cx="1537054" cy="1371600"/>
          </a:xfrm>
          <a:prstGeom prst="roundRect">
            <a:avLst>
              <a:gd name="adj" fmla="val 27966"/>
            </a:avLst>
          </a:prstGeom>
          <a:solidFill>
            <a:srgbClr val="CBC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grpSp>
        <p:nvGrpSpPr>
          <p:cNvPr id="2" name="Csoportba foglalás 1">
            <a:extLst>
              <a:ext uri="{FF2B5EF4-FFF2-40B4-BE49-F238E27FC236}">
                <a16:creationId xmlns:a16="http://schemas.microsoft.com/office/drawing/2014/main" id="{629E4C8A-43A1-54DA-70AB-AEF8C7737E1E}"/>
              </a:ext>
            </a:extLst>
          </p:cNvPr>
          <p:cNvGrpSpPr/>
          <p:nvPr/>
        </p:nvGrpSpPr>
        <p:grpSpPr>
          <a:xfrm>
            <a:off x="3095626" y="-90156"/>
            <a:ext cx="10487024" cy="1551531"/>
            <a:chOff x="2295525" y="5457043"/>
            <a:chExt cx="11047151" cy="1551531"/>
          </a:xfrm>
          <a:solidFill>
            <a:srgbClr val="CBC889"/>
          </a:solidFill>
        </p:grpSpPr>
        <p:sp>
          <p:nvSpPr>
            <p:cNvPr id="15" name="Téglalap: lekerekített 14">
              <a:extLst>
                <a:ext uri="{FF2B5EF4-FFF2-40B4-BE49-F238E27FC236}">
                  <a16:creationId xmlns:a16="http://schemas.microsoft.com/office/drawing/2014/main" id="{91A4EFF4-3EFE-3955-9E6D-A38A96C87BC9}"/>
                </a:ext>
              </a:extLst>
            </p:cNvPr>
            <p:cNvSpPr/>
            <p:nvPr/>
          </p:nvSpPr>
          <p:spPr>
            <a:xfrm>
              <a:off x="2295525" y="5457043"/>
              <a:ext cx="10452453" cy="1411949"/>
            </a:xfrm>
            <a:prstGeom prst="roundRect">
              <a:avLst>
                <a:gd name="adj" fmla="val 27966"/>
              </a:avLst>
            </a:prstGeom>
            <a:solidFill>
              <a:srgbClr val="3737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20" name="Cím 1">
              <a:extLst>
                <a:ext uri="{FF2B5EF4-FFF2-40B4-BE49-F238E27FC236}">
                  <a16:creationId xmlns:a16="http://schemas.microsoft.com/office/drawing/2014/main" id="{885FDB1B-0700-6002-B65D-7457BC82CEE5}"/>
                </a:ext>
              </a:extLst>
            </p:cNvPr>
            <p:cNvSpPr txBox="1">
              <a:spLocks/>
            </p:cNvSpPr>
            <p:nvPr/>
          </p:nvSpPr>
          <p:spPr>
            <a:xfrm>
              <a:off x="2689098" y="5876316"/>
              <a:ext cx="10653578" cy="1132258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hu-HU" dirty="0">
                  <a:solidFill>
                    <a:schemeClr val="bg1"/>
                  </a:solidFill>
                </a:rPr>
                <a:t>AI súgó</a:t>
              </a:r>
            </a:p>
          </p:txBody>
        </p:sp>
      </p:grpSp>
      <p:sp>
        <p:nvSpPr>
          <p:cNvPr id="21" name="Cím 1">
            <a:extLst>
              <a:ext uri="{FF2B5EF4-FFF2-40B4-BE49-F238E27FC236}">
                <a16:creationId xmlns:a16="http://schemas.microsoft.com/office/drawing/2014/main" id="{162ED081-47CF-DAE9-333A-6D49FA2F5006}"/>
              </a:ext>
            </a:extLst>
          </p:cNvPr>
          <p:cNvSpPr txBox="1">
            <a:spLocks/>
          </p:cNvSpPr>
          <p:nvPr/>
        </p:nvSpPr>
        <p:spPr>
          <a:xfrm>
            <a:off x="3841623" y="451438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2" name="Cím 1">
            <a:extLst>
              <a:ext uri="{FF2B5EF4-FFF2-40B4-BE49-F238E27FC236}">
                <a16:creationId xmlns:a16="http://schemas.microsoft.com/office/drawing/2014/main" id="{12AAC609-7029-0547-FABE-FD91F76979C4}"/>
              </a:ext>
            </a:extLst>
          </p:cNvPr>
          <p:cNvSpPr txBox="1">
            <a:spLocks/>
          </p:cNvSpPr>
          <p:nvPr/>
        </p:nvSpPr>
        <p:spPr>
          <a:xfrm>
            <a:off x="5603748" y="3093297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3" name="Cím 1">
            <a:extLst>
              <a:ext uri="{FF2B5EF4-FFF2-40B4-BE49-F238E27FC236}">
                <a16:creationId xmlns:a16="http://schemas.microsoft.com/office/drawing/2014/main" id="{2B824F54-EBF7-7F71-D740-54A208BEF90B}"/>
              </a:ext>
            </a:extLst>
          </p:cNvPr>
          <p:cNvSpPr txBox="1">
            <a:spLocks/>
          </p:cNvSpPr>
          <p:nvPr/>
        </p:nvSpPr>
        <p:spPr>
          <a:xfrm>
            <a:off x="6865211" y="1711207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4" name="Cím 1">
            <a:extLst>
              <a:ext uri="{FF2B5EF4-FFF2-40B4-BE49-F238E27FC236}">
                <a16:creationId xmlns:a16="http://schemas.microsoft.com/office/drawing/2014/main" id="{B924F6AD-4063-9651-77E1-7F2469C4077D}"/>
              </a:ext>
            </a:extLst>
          </p:cNvPr>
          <p:cNvSpPr txBox="1">
            <a:spLocks/>
          </p:cNvSpPr>
          <p:nvPr/>
        </p:nvSpPr>
        <p:spPr>
          <a:xfrm>
            <a:off x="8324843" y="356741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A96BBABD-6D57-56B2-455A-B925A722F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54" y="2482621"/>
            <a:ext cx="4088177" cy="330391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Kép 7" descr="A képen szöveg, szoftver, Multimédiás szoftver, Betűtípu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ACF8F4F-775C-E781-0843-6A314EEAE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638" y="3215912"/>
            <a:ext cx="5978453" cy="16153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Ellipszis 3">
            <a:extLst>
              <a:ext uri="{FF2B5EF4-FFF2-40B4-BE49-F238E27FC236}">
                <a16:creationId xmlns:a16="http://schemas.microsoft.com/office/drawing/2014/main" id="{12CFCD32-A15F-4C2B-8625-4BF6A43F235F}"/>
              </a:ext>
            </a:extLst>
          </p:cNvPr>
          <p:cNvSpPr/>
          <p:nvPr/>
        </p:nvSpPr>
        <p:spPr>
          <a:xfrm>
            <a:off x="-986319" y="6747405"/>
            <a:ext cx="1135117" cy="68081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07211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E1BBE-8D58-84CD-B244-68A9E0DCD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ím 1">
            <a:extLst>
              <a:ext uri="{FF2B5EF4-FFF2-40B4-BE49-F238E27FC236}">
                <a16:creationId xmlns:a16="http://schemas.microsoft.com/office/drawing/2014/main" id="{E0BF7A04-6E28-82E6-6FA1-A9B85DD5EC3B}"/>
              </a:ext>
            </a:extLst>
          </p:cNvPr>
          <p:cNvSpPr txBox="1">
            <a:spLocks/>
          </p:cNvSpPr>
          <p:nvPr/>
        </p:nvSpPr>
        <p:spPr>
          <a:xfrm>
            <a:off x="3841623" y="451438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2" name="Cím 1">
            <a:extLst>
              <a:ext uri="{FF2B5EF4-FFF2-40B4-BE49-F238E27FC236}">
                <a16:creationId xmlns:a16="http://schemas.microsoft.com/office/drawing/2014/main" id="{78E9A072-E0C3-5598-4203-6FA23DE5D063}"/>
              </a:ext>
            </a:extLst>
          </p:cNvPr>
          <p:cNvSpPr txBox="1">
            <a:spLocks/>
          </p:cNvSpPr>
          <p:nvPr/>
        </p:nvSpPr>
        <p:spPr>
          <a:xfrm>
            <a:off x="5603748" y="3093297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3" name="Cím 1">
            <a:extLst>
              <a:ext uri="{FF2B5EF4-FFF2-40B4-BE49-F238E27FC236}">
                <a16:creationId xmlns:a16="http://schemas.microsoft.com/office/drawing/2014/main" id="{F5D0A03C-2618-8ABF-1123-EF4FA34FE085}"/>
              </a:ext>
            </a:extLst>
          </p:cNvPr>
          <p:cNvSpPr txBox="1">
            <a:spLocks/>
          </p:cNvSpPr>
          <p:nvPr/>
        </p:nvSpPr>
        <p:spPr>
          <a:xfrm>
            <a:off x="6865211" y="1711207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4" name="Cím 1">
            <a:extLst>
              <a:ext uri="{FF2B5EF4-FFF2-40B4-BE49-F238E27FC236}">
                <a16:creationId xmlns:a16="http://schemas.microsoft.com/office/drawing/2014/main" id="{1F5303C2-8357-F922-E315-5F9E4EC8B90E}"/>
              </a:ext>
            </a:extLst>
          </p:cNvPr>
          <p:cNvSpPr txBox="1">
            <a:spLocks/>
          </p:cNvSpPr>
          <p:nvPr/>
        </p:nvSpPr>
        <p:spPr>
          <a:xfrm>
            <a:off x="8324843" y="356741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9ECC3A55-7A6D-7CB3-72E8-C1E3CCB4D0E2}"/>
              </a:ext>
            </a:extLst>
          </p:cNvPr>
          <p:cNvSpPr txBox="1">
            <a:spLocks/>
          </p:cNvSpPr>
          <p:nvPr/>
        </p:nvSpPr>
        <p:spPr>
          <a:xfrm>
            <a:off x="863541" y="656268"/>
            <a:ext cx="10787353" cy="2236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5400" dirty="0">
                <a:solidFill>
                  <a:srgbClr val="FFFFFF"/>
                </a:solidFill>
              </a:rPr>
              <a:t>Továbbfejlesztési lehetőségek</a:t>
            </a:r>
          </a:p>
        </p:txBody>
      </p:sp>
      <p:sp>
        <p:nvSpPr>
          <p:cNvPr id="6" name="Alcím 2">
            <a:extLst>
              <a:ext uri="{FF2B5EF4-FFF2-40B4-BE49-F238E27FC236}">
                <a16:creationId xmlns:a16="http://schemas.microsoft.com/office/drawing/2014/main" id="{253D39ED-57C7-EEDC-D9E2-BAADE40E1806}"/>
              </a:ext>
            </a:extLst>
          </p:cNvPr>
          <p:cNvSpPr txBox="1">
            <a:spLocks/>
          </p:cNvSpPr>
          <p:nvPr/>
        </p:nvSpPr>
        <p:spPr>
          <a:xfrm>
            <a:off x="952267" y="1935896"/>
            <a:ext cx="4651481" cy="3230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2400" dirty="0">
                <a:solidFill>
                  <a:srgbClr val="FFFFFF"/>
                </a:solidFill>
              </a:rPr>
              <a:t>Terjeszkedés külföldre egész Európa területén</a:t>
            </a:r>
          </a:p>
          <a:p>
            <a:r>
              <a:rPr lang="hu-HU" sz="2400" dirty="0">
                <a:solidFill>
                  <a:srgbClr val="FFFFFF"/>
                </a:solidFill>
              </a:rPr>
              <a:t>Kultúrák bővítése</a:t>
            </a:r>
          </a:p>
          <a:p>
            <a:r>
              <a:rPr lang="hu-HU" sz="2400" dirty="0">
                <a:solidFill>
                  <a:srgbClr val="FFFFFF"/>
                </a:solidFill>
              </a:rPr>
              <a:t>Más művelési ágak bevezetése</a:t>
            </a:r>
          </a:p>
          <a:p>
            <a:r>
              <a:rPr lang="hu-HU" sz="2400" dirty="0">
                <a:solidFill>
                  <a:srgbClr val="FFFFFF"/>
                </a:solidFill>
              </a:rPr>
              <a:t>Statisztikák, diagramok</a:t>
            </a:r>
          </a:p>
        </p:txBody>
      </p:sp>
      <p:sp>
        <p:nvSpPr>
          <p:cNvPr id="2" name="Ellipszis 1">
            <a:extLst>
              <a:ext uri="{FF2B5EF4-FFF2-40B4-BE49-F238E27FC236}">
                <a16:creationId xmlns:a16="http://schemas.microsoft.com/office/drawing/2014/main" id="{079C2E32-97ED-4308-BF7A-738F69DF32A0}"/>
              </a:ext>
            </a:extLst>
          </p:cNvPr>
          <p:cNvSpPr/>
          <p:nvPr/>
        </p:nvSpPr>
        <p:spPr>
          <a:xfrm>
            <a:off x="-2460263" y="-1767981"/>
            <a:ext cx="17112525" cy="1085481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0" name="Cím 1">
            <a:extLst>
              <a:ext uri="{FF2B5EF4-FFF2-40B4-BE49-F238E27FC236}">
                <a16:creationId xmlns:a16="http://schemas.microsoft.com/office/drawing/2014/main" id="{90BF32E2-95A2-462A-9919-D1ACEF3B14AF}"/>
              </a:ext>
            </a:extLst>
          </p:cNvPr>
          <p:cNvSpPr txBox="1">
            <a:spLocks/>
          </p:cNvSpPr>
          <p:nvPr/>
        </p:nvSpPr>
        <p:spPr>
          <a:xfrm>
            <a:off x="2931166" y="670394"/>
            <a:ext cx="10787353" cy="2236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5400" dirty="0">
                <a:solidFill>
                  <a:srgbClr val="FFFFFF"/>
                </a:solidFill>
              </a:rPr>
              <a:t>Szoftvertesztelés</a:t>
            </a:r>
          </a:p>
        </p:txBody>
      </p:sp>
      <p:sp>
        <p:nvSpPr>
          <p:cNvPr id="25" name="Alcím 2">
            <a:extLst>
              <a:ext uri="{FF2B5EF4-FFF2-40B4-BE49-F238E27FC236}">
                <a16:creationId xmlns:a16="http://schemas.microsoft.com/office/drawing/2014/main" id="{B0719187-36D1-4C36-B30F-7E8C95BECB34}"/>
              </a:ext>
            </a:extLst>
          </p:cNvPr>
          <p:cNvSpPr txBox="1">
            <a:spLocks/>
          </p:cNvSpPr>
          <p:nvPr/>
        </p:nvSpPr>
        <p:spPr>
          <a:xfrm>
            <a:off x="1859891" y="2714097"/>
            <a:ext cx="1920882" cy="6616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hu-HU" sz="2400" b="1" dirty="0">
              <a:solidFill>
                <a:srgbClr val="FFFFFF"/>
              </a:solidFill>
            </a:endParaRP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303C0E65-E409-4524-A0C0-A9DEBD1E839A}"/>
              </a:ext>
            </a:extLst>
          </p:cNvPr>
          <p:cNvSpPr/>
          <p:nvPr/>
        </p:nvSpPr>
        <p:spPr>
          <a:xfrm>
            <a:off x="809926" y="1411341"/>
            <a:ext cx="5344701" cy="19555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b="1" cap="all" dirty="0"/>
              <a:t>Frontend - </a:t>
            </a:r>
            <a:r>
              <a:rPr lang="hu-HU" sz="3200" b="1" cap="all" dirty="0" err="1"/>
              <a:t>Jasmine</a:t>
            </a:r>
            <a:endParaRPr lang="hu-HU" sz="1400" b="1" cap="all" dirty="0"/>
          </a:p>
        </p:txBody>
      </p:sp>
      <p:sp>
        <p:nvSpPr>
          <p:cNvPr id="17" name="Téglalap 16">
            <a:extLst>
              <a:ext uri="{FF2B5EF4-FFF2-40B4-BE49-F238E27FC236}">
                <a16:creationId xmlns:a16="http://schemas.microsoft.com/office/drawing/2014/main" id="{E84D34A5-7F8D-4942-911A-9418944601BA}"/>
              </a:ext>
            </a:extLst>
          </p:cNvPr>
          <p:cNvSpPr/>
          <p:nvPr/>
        </p:nvSpPr>
        <p:spPr>
          <a:xfrm>
            <a:off x="6394919" y="1407566"/>
            <a:ext cx="5344701" cy="19555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b="1" cap="all" dirty="0"/>
              <a:t>Backend - </a:t>
            </a:r>
            <a:r>
              <a:rPr lang="hu-HU" sz="3200" b="1" cap="all" dirty="0" err="1"/>
              <a:t>Jest</a:t>
            </a:r>
            <a:endParaRPr lang="hu-HU" sz="1400" b="1" cap="all" dirty="0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60033931-CB08-2AF3-7A0F-C7347AFF0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873" y="3047468"/>
            <a:ext cx="4607209" cy="286215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AFF77D87-690F-28B5-7F62-DE0A6E7DC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727" y="3408941"/>
            <a:ext cx="5437369" cy="195554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25817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6356C-9A9D-9A54-936F-648FCA930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ím 1">
            <a:extLst>
              <a:ext uri="{FF2B5EF4-FFF2-40B4-BE49-F238E27FC236}">
                <a16:creationId xmlns:a16="http://schemas.microsoft.com/office/drawing/2014/main" id="{6341785C-008C-E665-8F51-DFAB02368829}"/>
              </a:ext>
            </a:extLst>
          </p:cNvPr>
          <p:cNvSpPr txBox="1">
            <a:spLocks/>
          </p:cNvSpPr>
          <p:nvPr/>
        </p:nvSpPr>
        <p:spPr>
          <a:xfrm>
            <a:off x="3841623" y="451438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2" name="Cím 1">
            <a:extLst>
              <a:ext uri="{FF2B5EF4-FFF2-40B4-BE49-F238E27FC236}">
                <a16:creationId xmlns:a16="http://schemas.microsoft.com/office/drawing/2014/main" id="{30A5E4F1-ACF6-02A3-05C1-50011FBE80EF}"/>
              </a:ext>
            </a:extLst>
          </p:cNvPr>
          <p:cNvSpPr txBox="1">
            <a:spLocks/>
          </p:cNvSpPr>
          <p:nvPr/>
        </p:nvSpPr>
        <p:spPr>
          <a:xfrm>
            <a:off x="5603748" y="3093297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3" name="Cím 1">
            <a:extLst>
              <a:ext uri="{FF2B5EF4-FFF2-40B4-BE49-F238E27FC236}">
                <a16:creationId xmlns:a16="http://schemas.microsoft.com/office/drawing/2014/main" id="{775E383A-9E3A-40C3-0EFE-93B9F18D6A1B}"/>
              </a:ext>
            </a:extLst>
          </p:cNvPr>
          <p:cNvSpPr txBox="1">
            <a:spLocks/>
          </p:cNvSpPr>
          <p:nvPr/>
        </p:nvSpPr>
        <p:spPr>
          <a:xfrm>
            <a:off x="6865211" y="1711207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4" name="Cím 1">
            <a:extLst>
              <a:ext uri="{FF2B5EF4-FFF2-40B4-BE49-F238E27FC236}">
                <a16:creationId xmlns:a16="http://schemas.microsoft.com/office/drawing/2014/main" id="{F37FFB25-4F86-BA62-8364-F8162289D266}"/>
              </a:ext>
            </a:extLst>
          </p:cNvPr>
          <p:cNvSpPr txBox="1">
            <a:spLocks/>
          </p:cNvSpPr>
          <p:nvPr/>
        </p:nvSpPr>
        <p:spPr>
          <a:xfrm>
            <a:off x="8324843" y="356741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E5F232D1-80A3-0352-0210-B83A1920D201}"/>
              </a:ext>
            </a:extLst>
          </p:cNvPr>
          <p:cNvSpPr txBox="1">
            <a:spLocks/>
          </p:cNvSpPr>
          <p:nvPr/>
        </p:nvSpPr>
        <p:spPr>
          <a:xfrm>
            <a:off x="863541" y="656268"/>
            <a:ext cx="10787353" cy="2236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5400" dirty="0">
                <a:solidFill>
                  <a:srgbClr val="FFFFFF"/>
                </a:solidFill>
              </a:rPr>
              <a:t>Továbbfejlesztési lehetőségek</a:t>
            </a:r>
          </a:p>
        </p:txBody>
      </p:sp>
      <p:sp>
        <p:nvSpPr>
          <p:cNvPr id="6" name="Alcím 2">
            <a:extLst>
              <a:ext uri="{FF2B5EF4-FFF2-40B4-BE49-F238E27FC236}">
                <a16:creationId xmlns:a16="http://schemas.microsoft.com/office/drawing/2014/main" id="{F8FAE481-B115-AE03-B3D4-C77688157447}"/>
              </a:ext>
            </a:extLst>
          </p:cNvPr>
          <p:cNvSpPr txBox="1">
            <a:spLocks/>
          </p:cNvSpPr>
          <p:nvPr/>
        </p:nvSpPr>
        <p:spPr>
          <a:xfrm>
            <a:off x="952267" y="1935896"/>
            <a:ext cx="4651481" cy="3230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2400" dirty="0">
                <a:solidFill>
                  <a:srgbClr val="FFFFFF"/>
                </a:solidFill>
              </a:rPr>
              <a:t>Terjeszkedés külföldre egész Európa területén</a:t>
            </a:r>
          </a:p>
          <a:p>
            <a:r>
              <a:rPr lang="hu-HU" sz="2400" dirty="0">
                <a:solidFill>
                  <a:srgbClr val="FFFFFF"/>
                </a:solidFill>
              </a:rPr>
              <a:t>Kultúrák bővítése</a:t>
            </a:r>
          </a:p>
          <a:p>
            <a:r>
              <a:rPr lang="hu-HU" sz="2400" dirty="0">
                <a:solidFill>
                  <a:srgbClr val="FFFFFF"/>
                </a:solidFill>
              </a:rPr>
              <a:t>Más művelési ágak bevezetése</a:t>
            </a:r>
          </a:p>
          <a:p>
            <a:r>
              <a:rPr lang="hu-HU" sz="2400" dirty="0">
                <a:solidFill>
                  <a:srgbClr val="FFFFFF"/>
                </a:solidFill>
              </a:rPr>
              <a:t>Statisztikák, diagramok</a:t>
            </a:r>
          </a:p>
        </p:txBody>
      </p:sp>
      <p:sp>
        <p:nvSpPr>
          <p:cNvPr id="2" name="Ellipszis 1">
            <a:extLst>
              <a:ext uri="{FF2B5EF4-FFF2-40B4-BE49-F238E27FC236}">
                <a16:creationId xmlns:a16="http://schemas.microsoft.com/office/drawing/2014/main" id="{BDEA27AE-CDD1-EA25-DB3B-22105B895BC7}"/>
              </a:ext>
            </a:extLst>
          </p:cNvPr>
          <p:cNvSpPr/>
          <p:nvPr/>
        </p:nvSpPr>
        <p:spPr>
          <a:xfrm>
            <a:off x="-2299046" y="-1790988"/>
            <a:ext cx="17112525" cy="1085481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Cím 1">
            <a:extLst>
              <a:ext uri="{FF2B5EF4-FFF2-40B4-BE49-F238E27FC236}">
                <a16:creationId xmlns:a16="http://schemas.microsoft.com/office/drawing/2014/main" id="{64C148F0-DD10-8E1D-33DE-5F0B777B4A78}"/>
              </a:ext>
            </a:extLst>
          </p:cNvPr>
          <p:cNvSpPr txBox="1">
            <a:spLocks/>
          </p:cNvSpPr>
          <p:nvPr/>
        </p:nvSpPr>
        <p:spPr>
          <a:xfrm>
            <a:off x="1859891" y="712621"/>
            <a:ext cx="10787353" cy="2236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5400" dirty="0"/>
              <a:t>Mobilalkalmazás fejlesztés</a:t>
            </a:r>
          </a:p>
        </p:txBody>
      </p:sp>
      <p:sp>
        <p:nvSpPr>
          <p:cNvPr id="25" name="Alcím 2">
            <a:extLst>
              <a:ext uri="{FF2B5EF4-FFF2-40B4-BE49-F238E27FC236}">
                <a16:creationId xmlns:a16="http://schemas.microsoft.com/office/drawing/2014/main" id="{3AE89631-9C9E-0284-6A99-902AF4D15E5D}"/>
              </a:ext>
            </a:extLst>
          </p:cNvPr>
          <p:cNvSpPr txBox="1">
            <a:spLocks/>
          </p:cNvSpPr>
          <p:nvPr/>
        </p:nvSpPr>
        <p:spPr>
          <a:xfrm>
            <a:off x="1859891" y="2714097"/>
            <a:ext cx="1920882" cy="6616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hu-HU" sz="2400" b="1" dirty="0">
              <a:solidFill>
                <a:srgbClr val="FFFFFF"/>
              </a:solidFill>
            </a:endParaRPr>
          </a:p>
        </p:txBody>
      </p:sp>
      <p:sp>
        <p:nvSpPr>
          <p:cNvPr id="26" name="Téglalap 25">
            <a:extLst>
              <a:ext uri="{FF2B5EF4-FFF2-40B4-BE49-F238E27FC236}">
                <a16:creationId xmlns:a16="http://schemas.microsoft.com/office/drawing/2014/main" id="{E19FF1B6-FD11-481F-E6BA-3269A37FC9DA}"/>
              </a:ext>
            </a:extLst>
          </p:cNvPr>
          <p:cNvSpPr/>
          <p:nvPr/>
        </p:nvSpPr>
        <p:spPr>
          <a:xfrm>
            <a:off x="6460118" y="3262753"/>
            <a:ext cx="2025445" cy="7933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Bejelentkezés</a:t>
            </a:r>
          </a:p>
        </p:txBody>
      </p:sp>
      <p:sp>
        <p:nvSpPr>
          <p:cNvPr id="27" name="Téglalap 26">
            <a:extLst>
              <a:ext uri="{FF2B5EF4-FFF2-40B4-BE49-F238E27FC236}">
                <a16:creationId xmlns:a16="http://schemas.microsoft.com/office/drawing/2014/main" id="{963D2B41-A2FB-388C-D7B6-524CCE42D1A3}"/>
              </a:ext>
            </a:extLst>
          </p:cNvPr>
          <p:cNvSpPr/>
          <p:nvPr/>
        </p:nvSpPr>
        <p:spPr>
          <a:xfrm>
            <a:off x="6460117" y="4609005"/>
            <a:ext cx="2025445" cy="7933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Földek</a:t>
            </a:r>
          </a:p>
        </p:txBody>
      </p:sp>
      <p:sp>
        <p:nvSpPr>
          <p:cNvPr id="28" name="Téglalap 27">
            <a:extLst>
              <a:ext uri="{FF2B5EF4-FFF2-40B4-BE49-F238E27FC236}">
                <a16:creationId xmlns:a16="http://schemas.microsoft.com/office/drawing/2014/main" id="{E7B16F07-D860-39B7-DDE7-80724A94903A}"/>
              </a:ext>
            </a:extLst>
          </p:cNvPr>
          <p:cNvSpPr/>
          <p:nvPr/>
        </p:nvSpPr>
        <p:spPr>
          <a:xfrm>
            <a:off x="9041499" y="3291650"/>
            <a:ext cx="2025445" cy="793345"/>
          </a:xfrm>
          <a:prstGeom prst="rect">
            <a:avLst/>
          </a:prstGeom>
          <a:solidFill>
            <a:srgbClr val="8B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Kiadások</a:t>
            </a:r>
          </a:p>
        </p:txBody>
      </p:sp>
      <p:sp>
        <p:nvSpPr>
          <p:cNvPr id="29" name="Téglalap 28">
            <a:extLst>
              <a:ext uri="{FF2B5EF4-FFF2-40B4-BE49-F238E27FC236}">
                <a16:creationId xmlns:a16="http://schemas.microsoft.com/office/drawing/2014/main" id="{395BBEDE-F810-BEF8-19FC-8DD3E1F3ABF7}"/>
              </a:ext>
            </a:extLst>
          </p:cNvPr>
          <p:cNvSpPr/>
          <p:nvPr/>
        </p:nvSpPr>
        <p:spPr>
          <a:xfrm>
            <a:off x="9041499" y="4567011"/>
            <a:ext cx="2025445" cy="793345"/>
          </a:xfrm>
          <a:prstGeom prst="rect">
            <a:avLst/>
          </a:prstGeom>
          <a:solidFill>
            <a:srgbClr val="8B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Tervek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80228150-BD2A-E6AC-98DC-28FF55B7184A}"/>
              </a:ext>
            </a:extLst>
          </p:cNvPr>
          <p:cNvSpPr/>
          <p:nvPr/>
        </p:nvSpPr>
        <p:spPr>
          <a:xfrm>
            <a:off x="6865211" y="1420220"/>
            <a:ext cx="4031226" cy="19555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4000" b="1" cap="all" dirty="0">
                <a:solidFill>
                  <a:schemeClr val="tx1"/>
                </a:solidFill>
              </a:rPr>
              <a:t>Funkciók</a:t>
            </a:r>
            <a:endParaRPr lang="hu-HU" b="1" cap="all" dirty="0">
              <a:solidFill>
                <a:schemeClr val="tx1"/>
              </a:solidFill>
            </a:endParaRP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2D58A204-31DF-A566-0D0D-F000DCBCA2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222" y="1691608"/>
            <a:ext cx="3107601" cy="4656668"/>
          </a:xfrm>
          <a:prstGeom prst="rect">
            <a:avLst/>
          </a:prstGeom>
        </p:spPr>
      </p:pic>
      <p:pic>
        <p:nvPicPr>
          <p:cNvPr id="4" name="pptvid">
            <a:hlinkClick r:id="" action="ppaction://media"/>
            <a:extLst>
              <a:ext uri="{FF2B5EF4-FFF2-40B4-BE49-F238E27FC236}">
                <a16:creationId xmlns:a16="http://schemas.microsoft.com/office/drawing/2014/main" id="{D97D1B27-5EDB-1C6D-5498-6A048A723FF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37805" r="37150" b="5748"/>
          <a:stretch>
            <a:fillRect/>
          </a:stretch>
        </p:blipFill>
        <p:spPr>
          <a:xfrm>
            <a:off x="2337091" y="1935896"/>
            <a:ext cx="1999618" cy="4209483"/>
          </a:xfrm>
          <a:prstGeom prst="roundRect">
            <a:avLst>
              <a:gd name="adj" fmla="val 15195"/>
            </a:avLst>
          </a:prstGeom>
        </p:spPr>
      </p:pic>
    </p:spTree>
    <p:extLst>
      <p:ext uri="{BB962C8B-B14F-4D97-AF65-F5344CB8AC3E}">
        <p14:creationId xmlns:p14="http://schemas.microsoft.com/office/powerpoint/2010/main" val="476749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45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A3C23-BD8B-4B03-9370-1C1BE02F4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07458AED-C428-ABB5-6E39-E309BCEEE0B9}"/>
              </a:ext>
            </a:extLst>
          </p:cNvPr>
          <p:cNvSpPr/>
          <p:nvPr/>
        </p:nvSpPr>
        <p:spPr>
          <a:xfrm>
            <a:off x="-199645" y="-81577"/>
            <a:ext cx="12591288" cy="6986016"/>
          </a:xfrm>
          <a:prstGeom prst="rect">
            <a:avLst/>
          </a:prstGeom>
          <a:solidFill>
            <a:srgbClr val="F1F5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E9008631-B925-F179-50E9-6EB34562AAD9}"/>
              </a:ext>
            </a:extLst>
          </p:cNvPr>
          <p:cNvSpPr txBox="1">
            <a:spLocks/>
          </p:cNvSpPr>
          <p:nvPr/>
        </p:nvSpPr>
        <p:spPr>
          <a:xfrm>
            <a:off x="4566474" y="1764942"/>
            <a:ext cx="3059050" cy="9886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5400" dirty="0"/>
              <a:t>Idővonal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336" y="4600151"/>
            <a:ext cx="20641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latin typeface="Neue Haas Grotesk Text Pro (Címsorok)"/>
              </a:rPr>
              <a:t>Tervezési</a:t>
            </a:r>
            <a:r>
              <a:rPr b="1" dirty="0">
                <a:latin typeface="Neue Haas Grotesk Text Pro (Címsorok)"/>
              </a:rPr>
              <a:t> </a:t>
            </a:r>
            <a:r>
              <a:rPr b="1" dirty="0" err="1">
                <a:latin typeface="Neue Haas Grotesk Text Pro (Címsorok)"/>
              </a:rPr>
              <a:t>fázis</a:t>
            </a:r>
            <a:endParaRPr b="1" dirty="0">
              <a:latin typeface="Neue Haas Grotesk Text Pro (Címsorok)"/>
            </a:endParaRPr>
          </a:p>
        </p:txBody>
      </p:sp>
      <p:cxnSp>
        <p:nvCxnSpPr>
          <p:cNvPr id="3" name="Egyenes összekötő nyíllal 2">
            <a:extLst>
              <a:ext uri="{FF2B5EF4-FFF2-40B4-BE49-F238E27FC236}">
                <a16:creationId xmlns:a16="http://schemas.microsoft.com/office/drawing/2014/main" id="{34F69248-363F-A67A-F948-CE0DD1030E2B}"/>
              </a:ext>
            </a:extLst>
          </p:cNvPr>
          <p:cNvCxnSpPr/>
          <p:nvPr/>
        </p:nvCxnSpPr>
        <p:spPr>
          <a:xfrm>
            <a:off x="0" y="6250444"/>
            <a:ext cx="12192000" cy="0"/>
          </a:xfrm>
          <a:prstGeom prst="straightConnector1">
            <a:avLst/>
          </a:prstGeom>
          <a:ln w="63500">
            <a:solidFill>
              <a:srgbClr val="1E29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Kivonás jele 10">
            <a:extLst>
              <a:ext uri="{FF2B5EF4-FFF2-40B4-BE49-F238E27FC236}">
                <a16:creationId xmlns:a16="http://schemas.microsoft.com/office/drawing/2014/main" id="{A2D39963-2698-75CE-BAB1-1E25785E9D1F}"/>
              </a:ext>
            </a:extLst>
          </p:cNvPr>
          <p:cNvSpPr/>
          <p:nvPr/>
        </p:nvSpPr>
        <p:spPr>
          <a:xfrm rot="16200000">
            <a:off x="913116" y="5722184"/>
            <a:ext cx="1634730" cy="429595"/>
          </a:xfrm>
          <a:prstGeom prst="mathMinus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Kivonás jele 11">
            <a:extLst>
              <a:ext uri="{FF2B5EF4-FFF2-40B4-BE49-F238E27FC236}">
                <a16:creationId xmlns:a16="http://schemas.microsoft.com/office/drawing/2014/main" id="{D2DC0B5A-F85A-A988-B3DF-13DAD00D9A0C}"/>
              </a:ext>
            </a:extLst>
          </p:cNvPr>
          <p:cNvSpPr/>
          <p:nvPr/>
        </p:nvSpPr>
        <p:spPr>
          <a:xfrm rot="16200000">
            <a:off x="3915360" y="5722184"/>
            <a:ext cx="1634732" cy="429595"/>
          </a:xfrm>
          <a:prstGeom prst="mathMinus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Kivonás jele 12">
            <a:extLst>
              <a:ext uri="{FF2B5EF4-FFF2-40B4-BE49-F238E27FC236}">
                <a16:creationId xmlns:a16="http://schemas.microsoft.com/office/drawing/2014/main" id="{D382233B-214A-7513-182E-B5BCD560AD9E}"/>
              </a:ext>
            </a:extLst>
          </p:cNvPr>
          <p:cNvSpPr/>
          <p:nvPr/>
        </p:nvSpPr>
        <p:spPr>
          <a:xfrm rot="16200000">
            <a:off x="6974409" y="5722183"/>
            <a:ext cx="1634734" cy="429595"/>
          </a:xfrm>
          <a:prstGeom prst="mathMinus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4" name="Kivonás jele 13">
            <a:extLst>
              <a:ext uri="{FF2B5EF4-FFF2-40B4-BE49-F238E27FC236}">
                <a16:creationId xmlns:a16="http://schemas.microsoft.com/office/drawing/2014/main" id="{7245B20B-8BB2-AFA8-EB53-3FD21D5C25E3}"/>
              </a:ext>
            </a:extLst>
          </p:cNvPr>
          <p:cNvSpPr/>
          <p:nvPr/>
        </p:nvSpPr>
        <p:spPr>
          <a:xfrm rot="16200000">
            <a:off x="9967660" y="5654758"/>
            <a:ext cx="1769582" cy="429595"/>
          </a:xfrm>
          <a:prstGeom prst="mathMinus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11E5A2CB-3604-F973-0816-2BD840D32539}"/>
              </a:ext>
            </a:extLst>
          </p:cNvPr>
          <p:cNvSpPr txBox="1"/>
          <p:nvPr/>
        </p:nvSpPr>
        <p:spPr>
          <a:xfrm>
            <a:off x="3366204" y="4600151"/>
            <a:ext cx="27297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b="1" dirty="0">
                <a:latin typeface="Neue Haas Grotesk Text Pro (Címsorok)"/>
              </a:rPr>
              <a:t>Adatbázis létrehozása</a:t>
            </a:r>
            <a:endParaRPr b="1" dirty="0">
              <a:latin typeface="Neue Haas Grotesk Text Pro (Címsorok)"/>
            </a:endParaRPr>
          </a:p>
        </p:txBody>
      </p:sp>
      <p:sp>
        <p:nvSpPr>
          <p:cNvPr id="18" name="TextBox 5">
            <a:extLst>
              <a:ext uri="{FF2B5EF4-FFF2-40B4-BE49-F238E27FC236}">
                <a16:creationId xmlns:a16="http://schemas.microsoft.com/office/drawing/2014/main" id="{D5C05507-8BF1-9F6A-BF26-2FB3685527C0}"/>
              </a:ext>
            </a:extLst>
          </p:cNvPr>
          <p:cNvSpPr txBox="1"/>
          <p:nvPr/>
        </p:nvSpPr>
        <p:spPr>
          <a:xfrm>
            <a:off x="7081369" y="4600151"/>
            <a:ext cx="1334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b="1" dirty="0">
                <a:latin typeface="Neue Haas Grotesk Text Pro (Címsorok)"/>
              </a:rPr>
              <a:t>Fejlesztés</a:t>
            </a:r>
            <a:endParaRPr b="1" dirty="0">
              <a:latin typeface="Neue Haas Grotesk Text Pro (Címsorok)"/>
            </a:endParaRPr>
          </a:p>
        </p:txBody>
      </p:sp>
      <p:sp>
        <p:nvSpPr>
          <p:cNvPr id="19" name="TextBox 5">
            <a:extLst>
              <a:ext uri="{FF2B5EF4-FFF2-40B4-BE49-F238E27FC236}">
                <a16:creationId xmlns:a16="http://schemas.microsoft.com/office/drawing/2014/main" id="{96A64EA6-47E3-7760-7DD2-E38B4199B8A0}"/>
              </a:ext>
            </a:extLst>
          </p:cNvPr>
          <p:cNvSpPr txBox="1"/>
          <p:nvPr/>
        </p:nvSpPr>
        <p:spPr>
          <a:xfrm>
            <a:off x="10184027" y="4600151"/>
            <a:ext cx="1336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b="1" dirty="0">
                <a:latin typeface="Neue Haas Grotesk Text Pro (Címsorok)"/>
              </a:rPr>
              <a:t>Tesztelés</a:t>
            </a:r>
            <a:endParaRPr b="1" dirty="0">
              <a:latin typeface="Neue Haas Grotesk Text Pro (Címsorok)"/>
            </a:endParaRPr>
          </a:p>
        </p:txBody>
      </p:sp>
      <p:sp>
        <p:nvSpPr>
          <p:cNvPr id="20" name="Nyíl: sávnyíl 19">
            <a:extLst>
              <a:ext uri="{FF2B5EF4-FFF2-40B4-BE49-F238E27FC236}">
                <a16:creationId xmlns:a16="http://schemas.microsoft.com/office/drawing/2014/main" id="{7CF4E30F-740D-36F2-CDB0-0A24800FB5A8}"/>
              </a:ext>
            </a:extLst>
          </p:cNvPr>
          <p:cNvSpPr/>
          <p:nvPr/>
        </p:nvSpPr>
        <p:spPr>
          <a:xfrm rot="16200000">
            <a:off x="1316874" y="5121661"/>
            <a:ext cx="843285" cy="841248"/>
          </a:xfrm>
          <a:prstGeom prst="chevron">
            <a:avLst>
              <a:gd name="adj" fmla="val 75000"/>
            </a:avLst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5" name="Nyíl: sávnyíl 24">
            <a:extLst>
              <a:ext uri="{FF2B5EF4-FFF2-40B4-BE49-F238E27FC236}">
                <a16:creationId xmlns:a16="http://schemas.microsoft.com/office/drawing/2014/main" id="{B19B206E-F2A8-B63B-C02B-2248AF0C6A50}"/>
              </a:ext>
            </a:extLst>
          </p:cNvPr>
          <p:cNvSpPr/>
          <p:nvPr/>
        </p:nvSpPr>
        <p:spPr>
          <a:xfrm rot="16200000">
            <a:off x="4309460" y="5121662"/>
            <a:ext cx="843285" cy="841248"/>
          </a:xfrm>
          <a:prstGeom prst="chevron">
            <a:avLst>
              <a:gd name="adj" fmla="val 75000"/>
            </a:avLst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6" name="Nyíl: sávnyíl 25">
            <a:extLst>
              <a:ext uri="{FF2B5EF4-FFF2-40B4-BE49-F238E27FC236}">
                <a16:creationId xmlns:a16="http://schemas.microsoft.com/office/drawing/2014/main" id="{4F7B99A7-354B-2E99-AF6F-F6916243FB13}"/>
              </a:ext>
            </a:extLst>
          </p:cNvPr>
          <p:cNvSpPr/>
          <p:nvPr/>
        </p:nvSpPr>
        <p:spPr>
          <a:xfrm rot="16200000">
            <a:off x="7370134" y="5121661"/>
            <a:ext cx="843285" cy="841248"/>
          </a:xfrm>
          <a:prstGeom prst="chevron">
            <a:avLst>
              <a:gd name="adj" fmla="val 75000"/>
            </a:avLst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7" name="Nyíl: sávnyíl 26">
            <a:extLst>
              <a:ext uri="{FF2B5EF4-FFF2-40B4-BE49-F238E27FC236}">
                <a16:creationId xmlns:a16="http://schemas.microsoft.com/office/drawing/2014/main" id="{162BBD09-D1F0-75F7-C499-75F50527FFB4}"/>
              </a:ext>
            </a:extLst>
          </p:cNvPr>
          <p:cNvSpPr/>
          <p:nvPr/>
        </p:nvSpPr>
        <p:spPr>
          <a:xfrm rot="16200000">
            <a:off x="10430808" y="5120636"/>
            <a:ext cx="843285" cy="841248"/>
          </a:xfrm>
          <a:prstGeom prst="chevron">
            <a:avLst>
              <a:gd name="adj" fmla="val 75000"/>
            </a:avLst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9904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42231-FE18-BCD8-BFFA-84239FB3B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3BA93D19-C3FA-8893-625F-A873907B9FDE}"/>
              </a:ext>
            </a:extLst>
          </p:cNvPr>
          <p:cNvSpPr/>
          <p:nvPr/>
        </p:nvSpPr>
        <p:spPr>
          <a:xfrm>
            <a:off x="-199645" y="-64008"/>
            <a:ext cx="12591288" cy="6986016"/>
          </a:xfrm>
          <a:prstGeom prst="rect">
            <a:avLst/>
          </a:prstGeom>
          <a:solidFill>
            <a:srgbClr val="F1F5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A6927191-0130-8D27-D7F7-8FF8D4E9CD8B}"/>
              </a:ext>
            </a:extLst>
          </p:cNvPr>
          <p:cNvSpPr txBox="1">
            <a:spLocks/>
          </p:cNvSpPr>
          <p:nvPr/>
        </p:nvSpPr>
        <p:spPr>
          <a:xfrm>
            <a:off x="4566474" y="399726"/>
            <a:ext cx="3059050" cy="9886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5400" dirty="0"/>
              <a:t>Idővonal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BBED40-0690-2D10-0E0F-12FDCD93EA41}"/>
              </a:ext>
            </a:extLst>
          </p:cNvPr>
          <p:cNvSpPr txBox="1"/>
          <p:nvPr/>
        </p:nvSpPr>
        <p:spPr>
          <a:xfrm>
            <a:off x="913187" y="1283941"/>
            <a:ext cx="20641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 err="1">
                <a:latin typeface="Neue Haas Grotesk Text Pro (Címsorok)"/>
              </a:rPr>
              <a:t>Tervezési</a:t>
            </a:r>
            <a:r>
              <a:rPr b="1" dirty="0">
                <a:latin typeface="Neue Haas Grotesk Text Pro (Címsorok)"/>
              </a:rPr>
              <a:t> </a:t>
            </a:r>
            <a:r>
              <a:rPr b="1" dirty="0" err="1">
                <a:latin typeface="Neue Haas Grotesk Text Pro (Címsorok)"/>
              </a:rPr>
              <a:t>fázis</a:t>
            </a:r>
            <a:endParaRPr lang="hu-HU" b="1" dirty="0">
              <a:latin typeface="Neue Haas Grotesk Text Pro (Címsorok)"/>
            </a:endParaRPr>
          </a:p>
          <a:p>
            <a:pPr algn="ctr"/>
            <a:r>
              <a:rPr lang="hu-HU" b="1" dirty="0">
                <a:latin typeface="Neue Haas Grotesk Text Pro (Címsorok)"/>
              </a:rPr>
              <a:t>(2 hét)</a:t>
            </a:r>
            <a:endParaRPr b="1" dirty="0">
              <a:latin typeface="Neue Haas Grotesk Text Pro (Címsorok)"/>
            </a:endParaRPr>
          </a:p>
        </p:txBody>
      </p:sp>
      <p:cxnSp>
        <p:nvCxnSpPr>
          <p:cNvPr id="3" name="Egyenes összekötő nyíllal 2">
            <a:extLst>
              <a:ext uri="{FF2B5EF4-FFF2-40B4-BE49-F238E27FC236}">
                <a16:creationId xmlns:a16="http://schemas.microsoft.com/office/drawing/2014/main" id="{275CEDCF-5CCE-6CA9-84C1-819912020638}"/>
              </a:ext>
            </a:extLst>
          </p:cNvPr>
          <p:cNvCxnSpPr/>
          <p:nvPr/>
        </p:nvCxnSpPr>
        <p:spPr>
          <a:xfrm>
            <a:off x="0" y="6250444"/>
            <a:ext cx="12192000" cy="0"/>
          </a:xfrm>
          <a:prstGeom prst="straightConnector1">
            <a:avLst/>
          </a:prstGeom>
          <a:ln w="63500">
            <a:solidFill>
              <a:srgbClr val="1E29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Kivonás jele 10">
            <a:extLst>
              <a:ext uri="{FF2B5EF4-FFF2-40B4-BE49-F238E27FC236}">
                <a16:creationId xmlns:a16="http://schemas.microsoft.com/office/drawing/2014/main" id="{1A6463B6-E43B-E9C7-AA2B-9A8B3D5CB29B}"/>
              </a:ext>
            </a:extLst>
          </p:cNvPr>
          <p:cNvSpPr/>
          <p:nvPr/>
        </p:nvSpPr>
        <p:spPr>
          <a:xfrm rot="16200000">
            <a:off x="913116" y="5722184"/>
            <a:ext cx="1634730" cy="429595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Kivonás jele 11">
            <a:extLst>
              <a:ext uri="{FF2B5EF4-FFF2-40B4-BE49-F238E27FC236}">
                <a16:creationId xmlns:a16="http://schemas.microsoft.com/office/drawing/2014/main" id="{79363C80-2967-EEEA-8C7B-CB79856F71AE}"/>
              </a:ext>
            </a:extLst>
          </p:cNvPr>
          <p:cNvSpPr/>
          <p:nvPr/>
        </p:nvSpPr>
        <p:spPr>
          <a:xfrm rot="16200000">
            <a:off x="3915360" y="5722184"/>
            <a:ext cx="1634732" cy="429595"/>
          </a:xfrm>
          <a:prstGeom prst="mathMinus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Kivonás jele 12">
            <a:extLst>
              <a:ext uri="{FF2B5EF4-FFF2-40B4-BE49-F238E27FC236}">
                <a16:creationId xmlns:a16="http://schemas.microsoft.com/office/drawing/2014/main" id="{18F2E94A-F583-8B3B-BD5A-41510EFDCF1B}"/>
              </a:ext>
            </a:extLst>
          </p:cNvPr>
          <p:cNvSpPr/>
          <p:nvPr/>
        </p:nvSpPr>
        <p:spPr>
          <a:xfrm rot="16200000">
            <a:off x="6974409" y="5722183"/>
            <a:ext cx="1634734" cy="429595"/>
          </a:xfrm>
          <a:prstGeom prst="mathMinus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4" name="Kivonás jele 13">
            <a:extLst>
              <a:ext uri="{FF2B5EF4-FFF2-40B4-BE49-F238E27FC236}">
                <a16:creationId xmlns:a16="http://schemas.microsoft.com/office/drawing/2014/main" id="{2F18985F-611D-C7A1-B4A6-332BCAFBBE70}"/>
              </a:ext>
            </a:extLst>
          </p:cNvPr>
          <p:cNvSpPr/>
          <p:nvPr/>
        </p:nvSpPr>
        <p:spPr>
          <a:xfrm rot="16200000">
            <a:off x="9967660" y="5654758"/>
            <a:ext cx="1769582" cy="429595"/>
          </a:xfrm>
          <a:prstGeom prst="mathMinus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5BB0527D-0B44-825C-077E-E7181154B556}"/>
              </a:ext>
            </a:extLst>
          </p:cNvPr>
          <p:cNvSpPr txBox="1"/>
          <p:nvPr/>
        </p:nvSpPr>
        <p:spPr>
          <a:xfrm>
            <a:off x="3366204" y="4600151"/>
            <a:ext cx="27297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b="1" dirty="0">
                <a:latin typeface="Neue Haas Grotesk Text Pro (Címsorok)"/>
              </a:rPr>
              <a:t>Adatbázis létrehozása</a:t>
            </a:r>
            <a:endParaRPr b="1" dirty="0">
              <a:latin typeface="Neue Haas Grotesk Text Pro (Címsorok)"/>
            </a:endParaRPr>
          </a:p>
        </p:txBody>
      </p:sp>
      <p:sp>
        <p:nvSpPr>
          <p:cNvPr id="18" name="TextBox 5">
            <a:extLst>
              <a:ext uri="{FF2B5EF4-FFF2-40B4-BE49-F238E27FC236}">
                <a16:creationId xmlns:a16="http://schemas.microsoft.com/office/drawing/2014/main" id="{B0BC71A6-7AAA-1B76-B8E3-02A58211FFF2}"/>
              </a:ext>
            </a:extLst>
          </p:cNvPr>
          <p:cNvSpPr txBox="1"/>
          <p:nvPr/>
        </p:nvSpPr>
        <p:spPr>
          <a:xfrm>
            <a:off x="7081369" y="4600151"/>
            <a:ext cx="1334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b="1" dirty="0">
                <a:latin typeface="Neue Haas Grotesk Text Pro (Címsorok)"/>
              </a:rPr>
              <a:t>Fejlesztés</a:t>
            </a:r>
            <a:endParaRPr b="1" dirty="0">
              <a:latin typeface="Neue Haas Grotesk Text Pro (Címsorok)"/>
            </a:endParaRPr>
          </a:p>
        </p:txBody>
      </p:sp>
      <p:sp>
        <p:nvSpPr>
          <p:cNvPr id="19" name="TextBox 5">
            <a:extLst>
              <a:ext uri="{FF2B5EF4-FFF2-40B4-BE49-F238E27FC236}">
                <a16:creationId xmlns:a16="http://schemas.microsoft.com/office/drawing/2014/main" id="{9B338A95-DC65-D3B7-9EA8-C32E8335CB62}"/>
              </a:ext>
            </a:extLst>
          </p:cNvPr>
          <p:cNvSpPr txBox="1"/>
          <p:nvPr/>
        </p:nvSpPr>
        <p:spPr>
          <a:xfrm>
            <a:off x="10184027" y="4600151"/>
            <a:ext cx="1336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b="1" dirty="0">
                <a:latin typeface="Neue Haas Grotesk Text Pro (Címsorok)"/>
              </a:rPr>
              <a:t>Tesztelés</a:t>
            </a:r>
            <a:endParaRPr b="1" dirty="0">
              <a:latin typeface="Neue Haas Grotesk Text Pro (Címsorok)"/>
            </a:endParaRPr>
          </a:p>
        </p:txBody>
      </p:sp>
      <p:sp>
        <p:nvSpPr>
          <p:cNvPr id="20" name="Nyíl: sávnyíl 19">
            <a:extLst>
              <a:ext uri="{FF2B5EF4-FFF2-40B4-BE49-F238E27FC236}">
                <a16:creationId xmlns:a16="http://schemas.microsoft.com/office/drawing/2014/main" id="{48B8DC60-257B-66AF-C670-E8C8B37817B1}"/>
              </a:ext>
            </a:extLst>
          </p:cNvPr>
          <p:cNvSpPr/>
          <p:nvPr/>
        </p:nvSpPr>
        <p:spPr>
          <a:xfrm rot="16200000">
            <a:off x="1316874" y="5121661"/>
            <a:ext cx="843285" cy="841248"/>
          </a:xfrm>
          <a:prstGeom prst="chevron">
            <a:avLst>
              <a:gd name="adj" fmla="val 75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5" name="Nyíl: sávnyíl 24">
            <a:extLst>
              <a:ext uri="{FF2B5EF4-FFF2-40B4-BE49-F238E27FC236}">
                <a16:creationId xmlns:a16="http://schemas.microsoft.com/office/drawing/2014/main" id="{34E39FA5-994F-5C0C-F322-333C3D5F6BFE}"/>
              </a:ext>
            </a:extLst>
          </p:cNvPr>
          <p:cNvSpPr/>
          <p:nvPr/>
        </p:nvSpPr>
        <p:spPr>
          <a:xfrm rot="16200000">
            <a:off x="4309460" y="5121662"/>
            <a:ext cx="843285" cy="841248"/>
          </a:xfrm>
          <a:prstGeom prst="chevron">
            <a:avLst>
              <a:gd name="adj" fmla="val 75000"/>
            </a:avLst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6" name="Nyíl: sávnyíl 25">
            <a:extLst>
              <a:ext uri="{FF2B5EF4-FFF2-40B4-BE49-F238E27FC236}">
                <a16:creationId xmlns:a16="http://schemas.microsoft.com/office/drawing/2014/main" id="{FC65562F-7BA4-073F-B805-0A143CDD684A}"/>
              </a:ext>
            </a:extLst>
          </p:cNvPr>
          <p:cNvSpPr/>
          <p:nvPr/>
        </p:nvSpPr>
        <p:spPr>
          <a:xfrm rot="16200000">
            <a:off x="7370134" y="5121661"/>
            <a:ext cx="843285" cy="841248"/>
          </a:xfrm>
          <a:prstGeom prst="chevron">
            <a:avLst>
              <a:gd name="adj" fmla="val 75000"/>
            </a:avLst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7" name="Nyíl: sávnyíl 26">
            <a:extLst>
              <a:ext uri="{FF2B5EF4-FFF2-40B4-BE49-F238E27FC236}">
                <a16:creationId xmlns:a16="http://schemas.microsoft.com/office/drawing/2014/main" id="{0350EFF4-82AB-742B-1A71-22F5A9C217AB}"/>
              </a:ext>
            </a:extLst>
          </p:cNvPr>
          <p:cNvSpPr/>
          <p:nvPr/>
        </p:nvSpPr>
        <p:spPr>
          <a:xfrm rot="16200000">
            <a:off x="10430808" y="5120636"/>
            <a:ext cx="843285" cy="841248"/>
          </a:xfrm>
          <a:prstGeom prst="chevron">
            <a:avLst>
              <a:gd name="adj" fmla="val 75000"/>
            </a:avLst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B5A943F6-F8DD-4A2A-8E4F-1F6394B7027D}"/>
              </a:ext>
            </a:extLst>
          </p:cNvPr>
          <p:cNvSpPr txBox="1"/>
          <p:nvPr/>
        </p:nvSpPr>
        <p:spPr>
          <a:xfrm>
            <a:off x="316260" y="2216787"/>
            <a:ext cx="284451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Projekt téma és célok meghatározása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Optimális felület / eszköz kiválasztása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Feladatok elosztása</a:t>
            </a:r>
          </a:p>
        </p:txBody>
      </p:sp>
    </p:spTree>
    <p:extLst>
      <p:ext uri="{BB962C8B-B14F-4D97-AF65-F5344CB8AC3E}">
        <p14:creationId xmlns:p14="http://schemas.microsoft.com/office/powerpoint/2010/main" val="3311115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2CFFC-FF39-8E2F-4BB7-39F15C967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DC279BCF-52B7-4FCC-770D-FFD1E249EBD2}"/>
              </a:ext>
            </a:extLst>
          </p:cNvPr>
          <p:cNvSpPr/>
          <p:nvPr/>
        </p:nvSpPr>
        <p:spPr>
          <a:xfrm>
            <a:off x="-199644" y="-64008"/>
            <a:ext cx="12591288" cy="6986016"/>
          </a:xfrm>
          <a:prstGeom prst="rect">
            <a:avLst/>
          </a:prstGeom>
          <a:solidFill>
            <a:srgbClr val="F1F5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6B7AF43E-807A-8093-B780-103928A77079}"/>
              </a:ext>
            </a:extLst>
          </p:cNvPr>
          <p:cNvSpPr txBox="1">
            <a:spLocks/>
          </p:cNvSpPr>
          <p:nvPr/>
        </p:nvSpPr>
        <p:spPr>
          <a:xfrm>
            <a:off x="4566474" y="399726"/>
            <a:ext cx="3059050" cy="9886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5400" dirty="0"/>
              <a:t>Idővonal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FD0B49-33AC-C4BB-4818-57C8742B632C}"/>
              </a:ext>
            </a:extLst>
          </p:cNvPr>
          <p:cNvSpPr txBox="1"/>
          <p:nvPr/>
        </p:nvSpPr>
        <p:spPr>
          <a:xfrm>
            <a:off x="821747" y="4600151"/>
            <a:ext cx="20641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latin typeface="Neue Haas Grotesk Text Pro (Címsorok)"/>
              </a:rPr>
              <a:t>Tervezési</a:t>
            </a:r>
            <a:r>
              <a:rPr b="1" dirty="0">
                <a:latin typeface="Neue Haas Grotesk Text Pro (Címsorok)"/>
              </a:rPr>
              <a:t> </a:t>
            </a:r>
            <a:r>
              <a:rPr b="1" dirty="0" err="1">
                <a:latin typeface="Neue Haas Grotesk Text Pro (Címsorok)"/>
              </a:rPr>
              <a:t>fázis</a:t>
            </a:r>
            <a:endParaRPr b="1" dirty="0">
              <a:latin typeface="Neue Haas Grotesk Text Pro (Címsorok)"/>
            </a:endParaRPr>
          </a:p>
        </p:txBody>
      </p:sp>
      <p:cxnSp>
        <p:nvCxnSpPr>
          <p:cNvPr id="3" name="Egyenes összekötő nyíllal 2">
            <a:extLst>
              <a:ext uri="{FF2B5EF4-FFF2-40B4-BE49-F238E27FC236}">
                <a16:creationId xmlns:a16="http://schemas.microsoft.com/office/drawing/2014/main" id="{55E7780D-92E0-5EA0-D590-CCD67CADE1B8}"/>
              </a:ext>
            </a:extLst>
          </p:cNvPr>
          <p:cNvCxnSpPr/>
          <p:nvPr/>
        </p:nvCxnSpPr>
        <p:spPr>
          <a:xfrm>
            <a:off x="0" y="6250444"/>
            <a:ext cx="12192000" cy="0"/>
          </a:xfrm>
          <a:prstGeom prst="straightConnector1">
            <a:avLst/>
          </a:prstGeom>
          <a:ln w="63500">
            <a:solidFill>
              <a:srgbClr val="1E29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Kivonás jele 10">
            <a:extLst>
              <a:ext uri="{FF2B5EF4-FFF2-40B4-BE49-F238E27FC236}">
                <a16:creationId xmlns:a16="http://schemas.microsoft.com/office/drawing/2014/main" id="{3BE43C1D-EE68-7A5A-A83B-32ACA49B5CE6}"/>
              </a:ext>
            </a:extLst>
          </p:cNvPr>
          <p:cNvSpPr/>
          <p:nvPr/>
        </p:nvSpPr>
        <p:spPr>
          <a:xfrm rot="16200000">
            <a:off x="913116" y="5722184"/>
            <a:ext cx="1634730" cy="429595"/>
          </a:xfrm>
          <a:prstGeom prst="mathMinus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Kivonás jele 11">
            <a:extLst>
              <a:ext uri="{FF2B5EF4-FFF2-40B4-BE49-F238E27FC236}">
                <a16:creationId xmlns:a16="http://schemas.microsoft.com/office/drawing/2014/main" id="{B3D03CB8-02D2-0C86-631D-47250D2401C7}"/>
              </a:ext>
            </a:extLst>
          </p:cNvPr>
          <p:cNvSpPr/>
          <p:nvPr/>
        </p:nvSpPr>
        <p:spPr>
          <a:xfrm rot="16200000">
            <a:off x="3915360" y="5722184"/>
            <a:ext cx="1634732" cy="429595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Kivonás jele 12">
            <a:extLst>
              <a:ext uri="{FF2B5EF4-FFF2-40B4-BE49-F238E27FC236}">
                <a16:creationId xmlns:a16="http://schemas.microsoft.com/office/drawing/2014/main" id="{E3A92F03-39B1-7903-B429-2E73E5967F79}"/>
              </a:ext>
            </a:extLst>
          </p:cNvPr>
          <p:cNvSpPr/>
          <p:nvPr/>
        </p:nvSpPr>
        <p:spPr>
          <a:xfrm rot="16200000">
            <a:off x="6974409" y="5722183"/>
            <a:ext cx="1634734" cy="429595"/>
          </a:xfrm>
          <a:prstGeom prst="mathMinus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4" name="Kivonás jele 13">
            <a:extLst>
              <a:ext uri="{FF2B5EF4-FFF2-40B4-BE49-F238E27FC236}">
                <a16:creationId xmlns:a16="http://schemas.microsoft.com/office/drawing/2014/main" id="{DE7F98DE-28D6-CB0A-5FA9-E6B65A98634E}"/>
              </a:ext>
            </a:extLst>
          </p:cNvPr>
          <p:cNvSpPr/>
          <p:nvPr/>
        </p:nvSpPr>
        <p:spPr>
          <a:xfrm rot="16200000">
            <a:off x="9967660" y="5654758"/>
            <a:ext cx="1769582" cy="429595"/>
          </a:xfrm>
          <a:prstGeom prst="mathMinus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62B5AD2F-9BB8-7655-6199-EC0114323AAE}"/>
              </a:ext>
            </a:extLst>
          </p:cNvPr>
          <p:cNvSpPr txBox="1"/>
          <p:nvPr/>
        </p:nvSpPr>
        <p:spPr>
          <a:xfrm>
            <a:off x="3308846" y="1410369"/>
            <a:ext cx="27297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b="1" dirty="0">
                <a:latin typeface="Neue Haas Grotesk Text Pro (Címsorok)"/>
              </a:rPr>
              <a:t>Adatbázis létrehozása</a:t>
            </a:r>
            <a:br>
              <a:rPr lang="hu-HU" b="1" dirty="0">
                <a:latin typeface="Neue Haas Grotesk Text Pro (Címsorok)"/>
              </a:rPr>
            </a:br>
            <a:r>
              <a:rPr lang="hu-HU" b="1" dirty="0">
                <a:latin typeface="Neue Haas Grotesk Text Pro (Címsorok)"/>
              </a:rPr>
              <a:t>(3 hét)</a:t>
            </a:r>
            <a:endParaRPr b="1" dirty="0">
              <a:latin typeface="Neue Haas Grotesk Text Pro (Címsorok)"/>
            </a:endParaRPr>
          </a:p>
        </p:txBody>
      </p:sp>
      <p:sp>
        <p:nvSpPr>
          <p:cNvPr id="18" name="TextBox 5">
            <a:extLst>
              <a:ext uri="{FF2B5EF4-FFF2-40B4-BE49-F238E27FC236}">
                <a16:creationId xmlns:a16="http://schemas.microsoft.com/office/drawing/2014/main" id="{64A5A658-0C35-9DC8-B6C8-6C8F98E5F122}"/>
              </a:ext>
            </a:extLst>
          </p:cNvPr>
          <p:cNvSpPr txBox="1"/>
          <p:nvPr/>
        </p:nvSpPr>
        <p:spPr>
          <a:xfrm>
            <a:off x="7081369" y="4600151"/>
            <a:ext cx="1334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b="1" dirty="0">
                <a:latin typeface="Neue Haas Grotesk Text Pro (Címsorok)"/>
              </a:rPr>
              <a:t>Fejlesztés</a:t>
            </a:r>
            <a:endParaRPr b="1" dirty="0">
              <a:latin typeface="Neue Haas Grotesk Text Pro (Címsorok)"/>
            </a:endParaRPr>
          </a:p>
        </p:txBody>
      </p:sp>
      <p:sp>
        <p:nvSpPr>
          <p:cNvPr id="19" name="TextBox 5">
            <a:extLst>
              <a:ext uri="{FF2B5EF4-FFF2-40B4-BE49-F238E27FC236}">
                <a16:creationId xmlns:a16="http://schemas.microsoft.com/office/drawing/2014/main" id="{972A9FEC-8452-4CD5-C279-FB5477C9DA51}"/>
              </a:ext>
            </a:extLst>
          </p:cNvPr>
          <p:cNvSpPr txBox="1"/>
          <p:nvPr/>
        </p:nvSpPr>
        <p:spPr>
          <a:xfrm>
            <a:off x="10184027" y="4600151"/>
            <a:ext cx="1336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b="1" dirty="0">
                <a:latin typeface="Neue Haas Grotesk Text Pro (Címsorok)"/>
              </a:rPr>
              <a:t>Tesztelés</a:t>
            </a:r>
            <a:endParaRPr b="1" dirty="0">
              <a:latin typeface="Neue Haas Grotesk Text Pro (Címsorok)"/>
            </a:endParaRPr>
          </a:p>
        </p:txBody>
      </p:sp>
      <p:sp>
        <p:nvSpPr>
          <p:cNvPr id="20" name="Nyíl: sávnyíl 19">
            <a:extLst>
              <a:ext uri="{FF2B5EF4-FFF2-40B4-BE49-F238E27FC236}">
                <a16:creationId xmlns:a16="http://schemas.microsoft.com/office/drawing/2014/main" id="{8A14601A-FD8C-EEFA-78A7-08F32923A21A}"/>
              </a:ext>
            </a:extLst>
          </p:cNvPr>
          <p:cNvSpPr/>
          <p:nvPr/>
        </p:nvSpPr>
        <p:spPr>
          <a:xfrm rot="16200000">
            <a:off x="1316874" y="5121661"/>
            <a:ext cx="843285" cy="841248"/>
          </a:xfrm>
          <a:prstGeom prst="chevron">
            <a:avLst>
              <a:gd name="adj" fmla="val 75000"/>
            </a:avLst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5" name="Nyíl: sávnyíl 24">
            <a:extLst>
              <a:ext uri="{FF2B5EF4-FFF2-40B4-BE49-F238E27FC236}">
                <a16:creationId xmlns:a16="http://schemas.microsoft.com/office/drawing/2014/main" id="{B27715E5-6660-8F98-BC23-335B90B50F9C}"/>
              </a:ext>
            </a:extLst>
          </p:cNvPr>
          <p:cNvSpPr/>
          <p:nvPr/>
        </p:nvSpPr>
        <p:spPr>
          <a:xfrm rot="16200000">
            <a:off x="4309460" y="5121662"/>
            <a:ext cx="843285" cy="841248"/>
          </a:xfrm>
          <a:prstGeom prst="chevron">
            <a:avLst>
              <a:gd name="adj" fmla="val 75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6" name="Nyíl: sávnyíl 25">
            <a:extLst>
              <a:ext uri="{FF2B5EF4-FFF2-40B4-BE49-F238E27FC236}">
                <a16:creationId xmlns:a16="http://schemas.microsoft.com/office/drawing/2014/main" id="{A8838BE4-6D63-749A-4FFD-3AEEE21528A5}"/>
              </a:ext>
            </a:extLst>
          </p:cNvPr>
          <p:cNvSpPr/>
          <p:nvPr/>
        </p:nvSpPr>
        <p:spPr>
          <a:xfrm rot="16200000">
            <a:off x="7370134" y="5121661"/>
            <a:ext cx="843285" cy="841248"/>
          </a:xfrm>
          <a:prstGeom prst="chevron">
            <a:avLst>
              <a:gd name="adj" fmla="val 75000"/>
            </a:avLst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7" name="Nyíl: sávnyíl 26">
            <a:extLst>
              <a:ext uri="{FF2B5EF4-FFF2-40B4-BE49-F238E27FC236}">
                <a16:creationId xmlns:a16="http://schemas.microsoft.com/office/drawing/2014/main" id="{A71F7E49-C064-F997-A6DB-D53C003332E6}"/>
              </a:ext>
            </a:extLst>
          </p:cNvPr>
          <p:cNvSpPr/>
          <p:nvPr/>
        </p:nvSpPr>
        <p:spPr>
          <a:xfrm rot="16200000">
            <a:off x="10430808" y="5120636"/>
            <a:ext cx="843285" cy="841248"/>
          </a:xfrm>
          <a:prstGeom prst="chevron">
            <a:avLst>
              <a:gd name="adj" fmla="val 75000"/>
            </a:avLst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26C25479-ABAE-8D2D-9229-6583CB08A3F6}"/>
              </a:ext>
            </a:extLst>
          </p:cNvPr>
          <p:cNvSpPr txBox="1"/>
          <p:nvPr/>
        </p:nvSpPr>
        <p:spPr>
          <a:xfrm>
            <a:off x="3308850" y="2274838"/>
            <a:ext cx="284451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/>
              <a:t>Adatbázis tervezet készítése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/>
              <a:t>Többszöri átdolgozás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/>
              <a:t>ER-modell és UML ábra elkészítése</a:t>
            </a:r>
          </a:p>
        </p:txBody>
      </p:sp>
    </p:spTree>
    <p:extLst>
      <p:ext uri="{BB962C8B-B14F-4D97-AF65-F5344CB8AC3E}">
        <p14:creationId xmlns:p14="http://schemas.microsoft.com/office/powerpoint/2010/main" val="29207395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8A4D2-39E5-5D67-4445-49C8281A1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BF26849C-663A-BA9B-DC1C-59BA22D0E437}"/>
              </a:ext>
            </a:extLst>
          </p:cNvPr>
          <p:cNvSpPr/>
          <p:nvPr/>
        </p:nvSpPr>
        <p:spPr>
          <a:xfrm>
            <a:off x="-199645" y="-81577"/>
            <a:ext cx="12591288" cy="6986016"/>
          </a:xfrm>
          <a:prstGeom prst="rect">
            <a:avLst/>
          </a:prstGeom>
          <a:solidFill>
            <a:srgbClr val="F1F5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032A4A3D-7CC5-2862-DDC1-2208613016F9}"/>
              </a:ext>
            </a:extLst>
          </p:cNvPr>
          <p:cNvSpPr txBox="1">
            <a:spLocks/>
          </p:cNvSpPr>
          <p:nvPr/>
        </p:nvSpPr>
        <p:spPr>
          <a:xfrm>
            <a:off x="4566474" y="399726"/>
            <a:ext cx="3059050" cy="9886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5400" dirty="0"/>
              <a:t>Idővonal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E288E7-DEF8-1407-D465-695380323F3D}"/>
              </a:ext>
            </a:extLst>
          </p:cNvPr>
          <p:cNvSpPr txBox="1"/>
          <p:nvPr/>
        </p:nvSpPr>
        <p:spPr>
          <a:xfrm>
            <a:off x="821747" y="4600151"/>
            <a:ext cx="20641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latin typeface="Neue Haas Grotesk Text Pro (Címsorok)"/>
              </a:rPr>
              <a:t>Tervezési</a:t>
            </a:r>
            <a:r>
              <a:rPr b="1" dirty="0">
                <a:latin typeface="Neue Haas Grotesk Text Pro (Címsorok)"/>
              </a:rPr>
              <a:t> </a:t>
            </a:r>
            <a:r>
              <a:rPr b="1" dirty="0" err="1">
                <a:latin typeface="Neue Haas Grotesk Text Pro (Címsorok)"/>
              </a:rPr>
              <a:t>fázis</a:t>
            </a:r>
            <a:endParaRPr b="1" dirty="0">
              <a:latin typeface="Neue Haas Grotesk Text Pro (Címsorok)"/>
            </a:endParaRPr>
          </a:p>
        </p:txBody>
      </p:sp>
      <p:cxnSp>
        <p:nvCxnSpPr>
          <p:cNvPr id="3" name="Egyenes összekötő nyíllal 2">
            <a:extLst>
              <a:ext uri="{FF2B5EF4-FFF2-40B4-BE49-F238E27FC236}">
                <a16:creationId xmlns:a16="http://schemas.microsoft.com/office/drawing/2014/main" id="{37F5F93E-D645-FA72-4B55-1C6D7B9EBF46}"/>
              </a:ext>
            </a:extLst>
          </p:cNvPr>
          <p:cNvCxnSpPr/>
          <p:nvPr/>
        </p:nvCxnSpPr>
        <p:spPr>
          <a:xfrm>
            <a:off x="0" y="6250444"/>
            <a:ext cx="12192000" cy="0"/>
          </a:xfrm>
          <a:prstGeom prst="straightConnector1">
            <a:avLst/>
          </a:prstGeom>
          <a:ln w="63500">
            <a:solidFill>
              <a:srgbClr val="1E29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Kivonás jele 10">
            <a:extLst>
              <a:ext uri="{FF2B5EF4-FFF2-40B4-BE49-F238E27FC236}">
                <a16:creationId xmlns:a16="http://schemas.microsoft.com/office/drawing/2014/main" id="{22EC16D2-825C-C663-CF86-D9A5B2106BAC}"/>
              </a:ext>
            </a:extLst>
          </p:cNvPr>
          <p:cNvSpPr/>
          <p:nvPr/>
        </p:nvSpPr>
        <p:spPr>
          <a:xfrm rot="16200000">
            <a:off x="913116" y="5722184"/>
            <a:ext cx="1634730" cy="429595"/>
          </a:xfrm>
          <a:prstGeom prst="mathMinus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Kivonás jele 11">
            <a:extLst>
              <a:ext uri="{FF2B5EF4-FFF2-40B4-BE49-F238E27FC236}">
                <a16:creationId xmlns:a16="http://schemas.microsoft.com/office/drawing/2014/main" id="{05CD0D48-4E2E-F3D0-0717-8F19A558FEC2}"/>
              </a:ext>
            </a:extLst>
          </p:cNvPr>
          <p:cNvSpPr/>
          <p:nvPr/>
        </p:nvSpPr>
        <p:spPr>
          <a:xfrm rot="16200000">
            <a:off x="3915360" y="5722184"/>
            <a:ext cx="1634732" cy="429595"/>
          </a:xfrm>
          <a:prstGeom prst="mathMinus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Kivonás jele 12">
            <a:extLst>
              <a:ext uri="{FF2B5EF4-FFF2-40B4-BE49-F238E27FC236}">
                <a16:creationId xmlns:a16="http://schemas.microsoft.com/office/drawing/2014/main" id="{0450BA38-A92D-6C8D-F94E-DF3A5B86FCC8}"/>
              </a:ext>
            </a:extLst>
          </p:cNvPr>
          <p:cNvSpPr/>
          <p:nvPr/>
        </p:nvSpPr>
        <p:spPr>
          <a:xfrm rot="16200000">
            <a:off x="6974409" y="5722183"/>
            <a:ext cx="1634734" cy="429595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4" name="Kivonás jele 13">
            <a:extLst>
              <a:ext uri="{FF2B5EF4-FFF2-40B4-BE49-F238E27FC236}">
                <a16:creationId xmlns:a16="http://schemas.microsoft.com/office/drawing/2014/main" id="{B516A545-5FC5-2753-7C49-9B50220B85FE}"/>
              </a:ext>
            </a:extLst>
          </p:cNvPr>
          <p:cNvSpPr/>
          <p:nvPr/>
        </p:nvSpPr>
        <p:spPr>
          <a:xfrm rot="16200000">
            <a:off x="9967660" y="5654758"/>
            <a:ext cx="1769582" cy="429595"/>
          </a:xfrm>
          <a:prstGeom prst="mathMinus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2A828115-E652-3DA0-CFC6-8107483A0924}"/>
              </a:ext>
            </a:extLst>
          </p:cNvPr>
          <p:cNvSpPr txBox="1"/>
          <p:nvPr/>
        </p:nvSpPr>
        <p:spPr>
          <a:xfrm>
            <a:off x="3473472" y="4600151"/>
            <a:ext cx="27297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b="1" dirty="0">
                <a:latin typeface="Neue Haas Grotesk Text Pro (Címsorok)"/>
              </a:rPr>
              <a:t>Adatbázis létrehozása</a:t>
            </a:r>
            <a:endParaRPr b="1" dirty="0">
              <a:latin typeface="Neue Haas Grotesk Text Pro (Címsorok)"/>
            </a:endParaRPr>
          </a:p>
        </p:txBody>
      </p:sp>
      <p:sp>
        <p:nvSpPr>
          <p:cNvPr id="18" name="TextBox 5">
            <a:extLst>
              <a:ext uri="{FF2B5EF4-FFF2-40B4-BE49-F238E27FC236}">
                <a16:creationId xmlns:a16="http://schemas.microsoft.com/office/drawing/2014/main" id="{90E74210-7B5F-8228-75E3-AA2E6C38362E}"/>
              </a:ext>
            </a:extLst>
          </p:cNvPr>
          <p:cNvSpPr txBox="1"/>
          <p:nvPr/>
        </p:nvSpPr>
        <p:spPr>
          <a:xfrm>
            <a:off x="7124278" y="1434605"/>
            <a:ext cx="13349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b="1" dirty="0">
                <a:latin typeface="Neue Haas Grotesk Text Pro (Címsorok)"/>
              </a:rPr>
              <a:t>Fejlesztés</a:t>
            </a:r>
            <a:br>
              <a:rPr lang="hu-HU" b="1" dirty="0">
                <a:latin typeface="Neue Haas Grotesk Text Pro (Címsorok)"/>
              </a:rPr>
            </a:br>
            <a:r>
              <a:rPr lang="hu-HU" b="1" dirty="0">
                <a:latin typeface="Neue Haas Grotesk Text Pro (Címsorok)"/>
              </a:rPr>
              <a:t>(8 hét)</a:t>
            </a:r>
            <a:endParaRPr b="1" dirty="0">
              <a:latin typeface="Neue Haas Grotesk Text Pro (Címsorok)"/>
            </a:endParaRPr>
          </a:p>
        </p:txBody>
      </p:sp>
      <p:sp>
        <p:nvSpPr>
          <p:cNvPr id="19" name="TextBox 5">
            <a:extLst>
              <a:ext uri="{FF2B5EF4-FFF2-40B4-BE49-F238E27FC236}">
                <a16:creationId xmlns:a16="http://schemas.microsoft.com/office/drawing/2014/main" id="{0FDAE5BF-E24F-C642-FBBF-3CF9CE8218DA}"/>
              </a:ext>
            </a:extLst>
          </p:cNvPr>
          <p:cNvSpPr txBox="1"/>
          <p:nvPr/>
        </p:nvSpPr>
        <p:spPr>
          <a:xfrm>
            <a:off x="10184027" y="4600151"/>
            <a:ext cx="1336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b="1" dirty="0">
                <a:latin typeface="Neue Haas Grotesk Text Pro (Címsorok)"/>
              </a:rPr>
              <a:t>Tesztelés</a:t>
            </a:r>
            <a:endParaRPr b="1" dirty="0">
              <a:latin typeface="Neue Haas Grotesk Text Pro (Címsorok)"/>
            </a:endParaRPr>
          </a:p>
        </p:txBody>
      </p:sp>
      <p:sp>
        <p:nvSpPr>
          <p:cNvPr id="20" name="Nyíl: sávnyíl 19">
            <a:extLst>
              <a:ext uri="{FF2B5EF4-FFF2-40B4-BE49-F238E27FC236}">
                <a16:creationId xmlns:a16="http://schemas.microsoft.com/office/drawing/2014/main" id="{FFB42C73-74F9-9D45-79BA-3F726FC526F0}"/>
              </a:ext>
            </a:extLst>
          </p:cNvPr>
          <p:cNvSpPr/>
          <p:nvPr/>
        </p:nvSpPr>
        <p:spPr>
          <a:xfrm rot="16200000">
            <a:off x="1316874" y="5121661"/>
            <a:ext cx="843285" cy="841248"/>
          </a:xfrm>
          <a:prstGeom prst="chevron">
            <a:avLst>
              <a:gd name="adj" fmla="val 75000"/>
            </a:avLst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5" name="Nyíl: sávnyíl 24">
            <a:extLst>
              <a:ext uri="{FF2B5EF4-FFF2-40B4-BE49-F238E27FC236}">
                <a16:creationId xmlns:a16="http://schemas.microsoft.com/office/drawing/2014/main" id="{0D9AF918-77B7-08C5-7473-37F54E7BA4A6}"/>
              </a:ext>
            </a:extLst>
          </p:cNvPr>
          <p:cNvSpPr/>
          <p:nvPr/>
        </p:nvSpPr>
        <p:spPr>
          <a:xfrm rot="16200000">
            <a:off x="4309460" y="5121662"/>
            <a:ext cx="843285" cy="841248"/>
          </a:xfrm>
          <a:prstGeom prst="chevron">
            <a:avLst>
              <a:gd name="adj" fmla="val 75000"/>
            </a:avLst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6" name="Nyíl: sávnyíl 25">
            <a:extLst>
              <a:ext uri="{FF2B5EF4-FFF2-40B4-BE49-F238E27FC236}">
                <a16:creationId xmlns:a16="http://schemas.microsoft.com/office/drawing/2014/main" id="{B578F924-49F1-66AA-9A3A-5A4CEE364588}"/>
              </a:ext>
            </a:extLst>
          </p:cNvPr>
          <p:cNvSpPr/>
          <p:nvPr/>
        </p:nvSpPr>
        <p:spPr>
          <a:xfrm rot="16200000">
            <a:off x="7370134" y="5121661"/>
            <a:ext cx="843285" cy="841248"/>
          </a:xfrm>
          <a:prstGeom prst="chevron">
            <a:avLst>
              <a:gd name="adj" fmla="val 75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7" name="Nyíl: sávnyíl 26">
            <a:extLst>
              <a:ext uri="{FF2B5EF4-FFF2-40B4-BE49-F238E27FC236}">
                <a16:creationId xmlns:a16="http://schemas.microsoft.com/office/drawing/2014/main" id="{E4A86E84-C177-7544-AA0C-3DB033598887}"/>
              </a:ext>
            </a:extLst>
          </p:cNvPr>
          <p:cNvSpPr/>
          <p:nvPr/>
        </p:nvSpPr>
        <p:spPr>
          <a:xfrm rot="16200000">
            <a:off x="10430808" y="5120636"/>
            <a:ext cx="843285" cy="841248"/>
          </a:xfrm>
          <a:prstGeom prst="chevron">
            <a:avLst>
              <a:gd name="adj" fmla="val 75000"/>
            </a:avLst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17CF4FC7-83C4-992C-8B70-C625A23ADC52}"/>
              </a:ext>
            </a:extLst>
          </p:cNvPr>
          <p:cNvSpPr txBox="1"/>
          <p:nvPr/>
        </p:nvSpPr>
        <p:spPr>
          <a:xfrm>
            <a:off x="6203267" y="2395768"/>
            <a:ext cx="310998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/>
              <a:t>Backend struktúra (Node.js)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/>
              <a:t>Frontend rendszer (</a:t>
            </a:r>
            <a:r>
              <a:rPr lang="hu-HU" dirty="0" err="1"/>
              <a:t>Angular</a:t>
            </a:r>
            <a:r>
              <a:rPr lang="hu-HU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/>
              <a:t>Backend–frontend kommunikáció kialakítása</a:t>
            </a:r>
          </a:p>
        </p:txBody>
      </p:sp>
    </p:spTree>
    <p:extLst>
      <p:ext uri="{BB962C8B-B14F-4D97-AF65-F5344CB8AC3E}">
        <p14:creationId xmlns:p14="http://schemas.microsoft.com/office/powerpoint/2010/main" val="33544266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AED89-4B57-A936-E06B-748B05105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DD6BD56A-C729-234F-10B2-8D67847932D9}"/>
              </a:ext>
            </a:extLst>
          </p:cNvPr>
          <p:cNvSpPr/>
          <p:nvPr/>
        </p:nvSpPr>
        <p:spPr>
          <a:xfrm>
            <a:off x="-183845" y="-54868"/>
            <a:ext cx="12591288" cy="6986016"/>
          </a:xfrm>
          <a:prstGeom prst="rect">
            <a:avLst/>
          </a:prstGeom>
          <a:solidFill>
            <a:srgbClr val="F1F5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91BA0055-5A34-6699-0258-3CF150AE0E84}"/>
              </a:ext>
            </a:extLst>
          </p:cNvPr>
          <p:cNvSpPr txBox="1">
            <a:spLocks/>
          </p:cNvSpPr>
          <p:nvPr/>
        </p:nvSpPr>
        <p:spPr>
          <a:xfrm>
            <a:off x="4566474" y="399726"/>
            <a:ext cx="3059050" cy="9886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5400" dirty="0"/>
              <a:t>Idővonal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2909EE-68C5-92C4-1266-AC24B8C68B71}"/>
              </a:ext>
            </a:extLst>
          </p:cNvPr>
          <p:cNvSpPr txBox="1"/>
          <p:nvPr/>
        </p:nvSpPr>
        <p:spPr>
          <a:xfrm>
            <a:off x="821747" y="4600151"/>
            <a:ext cx="20641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latin typeface="Neue Haas Grotesk Text Pro (Címsorok)"/>
              </a:rPr>
              <a:t>Tervezési</a:t>
            </a:r>
            <a:r>
              <a:rPr b="1" dirty="0">
                <a:latin typeface="Neue Haas Grotesk Text Pro (Címsorok)"/>
              </a:rPr>
              <a:t> </a:t>
            </a:r>
            <a:r>
              <a:rPr b="1" dirty="0" err="1">
                <a:latin typeface="Neue Haas Grotesk Text Pro (Címsorok)"/>
              </a:rPr>
              <a:t>fázis</a:t>
            </a:r>
            <a:endParaRPr b="1" dirty="0">
              <a:latin typeface="Neue Haas Grotesk Text Pro (Címsorok)"/>
            </a:endParaRPr>
          </a:p>
        </p:txBody>
      </p:sp>
      <p:cxnSp>
        <p:nvCxnSpPr>
          <p:cNvPr id="3" name="Egyenes összekötő nyíllal 2">
            <a:extLst>
              <a:ext uri="{FF2B5EF4-FFF2-40B4-BE49-F238E27FC236}">
                <a16:creationId xmlns:a16="http://schemas.microsoft.com/office/drawing/2014/main" id="{E920FA5B-61C9-20F4-0577-451A961BF3FA}"/>
              </a:ext>
            </a:extLst>
          </p:cNvPr>
          <p:cNvCxnSpPr/>
          <p:nvPr/>
        </p:nvCxnSpPr>
        <p:spPr>
          <a:xfrm>
            <a:off x="0" y="6250444"/>
            <a:ext cx="12192000" cy="0"/>
          </a:xfrm>
          <a:prstGeom prst="straightConnector1">
            <a:avLst/>
          </a:prstGeom>
          <a:ln w="63500">
            <a:solidFill>
              <a:srgbClr val="1E29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Kivonás jele 10">
            <a:extLst>
              <a:ext uri="{FF2B5EF4-FFF2-40B4-BE49-F238E27FC236}">
                <a16:creationId xmlns:a16="http://schemas.microsoft.com/office/drawing/2014/main" id="{6A851EE7-2809-EF35-BE37-B62DEEE2A351}"/>
              </a:ext>
            </a:extLst>
          </p:cNvPr>
          <p:cNvSpPr/>
          <p:nvPr/>
        </p:nvSpPr>
        <p:spPr>
          <a:xfrm rot="16200000">
            <a:off x="913116" y="5722184"/>
            <a:ext cx="1634730" cy="429595"/>
          </a:xfrm>
          <a:prstGeom prst="mathMinus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Kivonás jele 11">
            <a:extLst>
              <a:ext uri="{FF2B5EF4-FFF2-40B4-BE49-F238E27FC236}">
                <a16:creationId xmlns:a16="http://schemas.microsoft.com/office/drawing/2014/main" id="{740DC1B4-993B-32C6-94C6-77D238E0DF6D}"/>
              </a:ext>
            </a:extLst>
          </p:cNvPr>
          <p:cNvSpPr/>
          <p:nvPr/>
        </p:nvSpPr>
        <p:spPr>
          <a:xfrm rot="16200000">
            <a:off x="3915360" y="5722184"/>
            <a:ext cx="1634732" cy="429595"/>
          </a:xfrm>
          <a:prstGeom prst="mathMinus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Kivonás jele 12">
            <a:extLst>
              <a:ext uri="{FF2B5EF4-FFF2-40B4-BE49-F238E27FC236}">
                <a16:creationId xmlns:a16="http://schemas.microsoft.com/office/drawing/2014/main" id="{20BF85FE-CCA2-F5A9-8D69-864E702C480E}"/>
              </a:ext>
            </a:extLst>
          </p:cNvPr>
          <p:cNvSpPr/>
          <p:nvPr/>
        </p:nvSpPr>
        <p:spPr>
          <a:xfrm rot="16200000">
            <a:off x="6974409" y="5722183"/>
            <a:ext cx="1634734" cy="429595"/>
          </a:xfrm>
          <a:prstGeom prst="mathMinus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4" name="Kivonás jele 13">
            <a:extLst>
              <a:ext uri="{FF2B5EF4-FFF2-40B4-BE49-F238E27FC236}">
                <a16:creationId xmlns:a16="http://schemas.microsoft.com/office/drawing/2014/main" id="{A1F28B0C-C874-925D-DFC3-AA0058D98AB9}"/>
              </a:ext>
            </a:extLst>
          </p:cNvPr>
          <p:cNvSpPr/>
          <p:nvPr/>
        </p:nvSpPr>
        <p:spPr>
          <a:xfrm rot="16200000">
            <a:off x="9952955" y="5654758"/>
            <a:ext cx="1769582" cy="429595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0258F30D-B8E5-6BC6-A2ED-35591FD42BAC}"/>
              </a:ext>
            </a:extLst>
          </p:cNvPr>
          <p:cNvSpPr txBox="1"/>
          <p:nvPr/>
        </p:nvSpPr>
        <p:spPr>
          <a:xfrm>
            <a:off x="3473472" y="4600151"/>
            <a:ext cx="27297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b="1" dirty="0">
                <a:latin typeface="Neue Haas Grotesk Text Pro (Címsorok)"/>
              </a:rPr>
              <a:t>Adatbázis létrehozása</a:t>
            </a:r>
            <a:endParaRPr b="1" dirty="0">
              <a:latin typeface="Neue Haas Grotesk Text Pro (Címsorok)"/>
            </a:endParaRPr>
          </a:p>
        </p:txBody>
      </p:sp>
      <p:sp>
        <p:nvSpPr>
          <p:cNvPr id="18" name="TextBox 5">
            <a:extLst>
              <a:ext uri="{FF2B5EF4-FFF2-40B4-BE49-F238E27FC236}">
                <a16:creationId xmlns:a16="http://schemas.microsoft.com/office/drawing/2014/main" id="{E936F213-6B01-A09C-833A-F9D3C1A6E0BB}"/>
              </a:ext>
            </a:extLst>
          </p:cNvPr>
          <p:cNvSpPr txBox="1"/>
          <p:nvPr/>
        </p:nvSpPr>
        <p:spPr>
          <a:xfrm>
            <a:off x="7124278" y="4597863"/>
            <a:ext cx="1334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b="1" dirty="0">
                <a:latin typeface="Neue Haas Grotesk Text Pro (Címsorok)"/>
              </a:rPr>
              <a:t>Fejlesztés</a:t>
            </a:r>
            <a:endParaRPr b="1" dirty="0">
              <a:latin typeface="Neue Haas Grotesk Text Pro (Címsorok)"/>
            </a:endParaRPr>
          </a:p>
        </p:txBody>
      </p:sp>
      <p:sp>
        <p:nvSpPr>
          <p:cNvPr id="19" name="TextBox 5">
            <a:extLst>
              <a:ext uri="{FF2B5EF4-FFF2-40B4-BE49-F238E27FC236}">
                <a16:creationId xmlns:a16="http://schemas.microsoft.com/office/drawing/2014/main" id="{935C6409-B4B9-CEAF-F47F-0B612B4D5BB8}"/>
              </a:ext>
            </a:extLst>
          </p:cNvPr>
          <p:cNvSpPr txBox="1"/>
          <p:nvPr/>
        </p:nvSpPr>
        <p:spPr>
          <a:xfrm>
            <a:off x="9969230" y="1441141"/>
            <a:ext cx="13368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b="1" dirty="0">
                <a:latin typeface="Neue Haas Grotesk Text Pro (Címsorok)"/>
              </a:rPr>
              <a:t>Tesztelés</a:t>
            </a:r>
          </a:p>
          <a:p>
            <a:pPr algn="ctr"/>
            <a:r>
              <a:rPr lang="hu-HU" b="1" dirty="0">
                <a:latin typeface="Neue Haas Grotesk Text Pro (Címsorok)"/>
              </a:rPr>
              <a:t>(2 hét)</a:t>
            </a:r>
            <a:endParaRPr b="1" dirty="0">
              <a:latin typeface="Neue Haas Grotesk Text Pro (Címsorok)"/>
            </a:endParaRPr>
          </a:p>
        </p:txBody>
      </p:sp>
      <p:sp>
        <p:nvSpPr>
          <p:cNvPr id="20" name="Nyíl: sávnyíl 19">
            <a:extLst>
              <a:ext uri="{FF2B5EF4-FFF2-40B4-BE49-F238E27FC236}">
                <a16:creationId xmlns:a16="http://schemas.microsoft.com/office/drawing/2014/main" id="{E6678744-126B-672C-2453-EC96B1A5BDE7}"/>
              </a:ext>
            </a:extLst>
          </p:cNvPr>
          <p:cNvSpPr/>
          <p:nvPr/>
        </p:nvSpPr>
        <p:spPr>
          <a:xfrm rot="16200000">
            <a:off x="1316874" y="5121661"/>
            <a:ext cx="843285" cy="841248"/>
          </a:xfrm>
          <a:prstGeom prst="chevron">
            <a:avLst>
              <a:gd name="adj" fmla="val 75000"/>
            </a:avLst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5" name="Nyíl: sávnyíl 24">
            <a:extLst>
              <a:ext uri="{FF2B5EF4-FFF2-40B4-BE49-F238E27FC236}">
                <a16:creationId xmlns:a16="http://schemas.microsoft.com/office/drawing/2014/main" id="{1DF60689-E763-3A97-641B-C5666FF04A97}"/>
              </a:ext>
            </a:extLst>
          </p:cNvPr>
          <p:cNvSpPr/>
          <p:nvPr/>
        </p:nvSpPr>
        <p:spPr>
          <a:xfrm rot="16200000">
            <a:off x="4309460" y="5121662"/>
            <a:ext cx="843285" cy="841248"/>
          </a:xfrm>
          <a:prstGeom prst="chevron">
            <a:avLst>
              <a:gd name="adj" fmla="val 75000"/>
            </a:avLst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6" name="Nyíl: sávnyíl 25">
            <a:extLst>
              <a:ext uri="{FF2B5EF4-FFF2-40B4-BE49-F238E27FC236}">
                <a16:creationId xmlns:a16="http://schemas.microsoft.com/office/drawing/2014/main" id="{162E6841-FF53-AE61-1ABF-6652B035594F}"/>
              </a:ext>
            </a:extLst>
          </p:cNvPr>
          <p:cNvSpPr/>
          <p:nvPr/>
        </p:nvSpPr>
        <p:spPr>
          <a:xfrm rot="16200000">
            <a:off x="7370134" y="5121661"/>
            <a:ext cx="843285" cy="841248"/>
          </a:xfrm>
          <a:prstGeom prst="chevron">
            <a:avLst>
              <a:gd name="adj" fmla="val 75000"/>
            </a:avLst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7" name="Nyíl: sávnyíl 26">
            <a:extLst>
              <a:ext uri="{FF2B5EF4-FFF2-40B4-BE49-F238E27FC236}">
                <a16:creationId xmlns:a16="http://schemas.microsoft.com/office/drawing/2014/main" id="{6629C6B8-4146-36C3-77F9-C74A38A4FBD8}"/>
              </a:ext>
            </a:extLst>
          </p:cNvPr>
          <p:cNvSpPr/>
          <p:nvPr/>
        </p:nvSpPr>
        <p:spPr>
          <a:xfrm rot="16200000">
            <a:off x="10416104" y="5120631"/>
            <a:ext cx="843285" cy="841248"/>
          </a:xfrm>
          <a:prstGeom prst="chevron">
            <a:avLst>
              <a:gd name="adj" fmla="val 75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0C223E96-ED28-7146-BCED-2CA14D5CDC03}"/>
              </a:ext>
            </a:extLst>
          </p:cNvPr>
          <p:cNvSpPr txBox="1"/>
          <p:nvPr/>
        </p:nvSpPr>
        <p:spPr>
          <a:xfrm>
            <a:off x="9297454" y="2478064"/>
            <a:ext cx="310998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/>
              <a:t>Frontend és backend </a:t>
            </a:r>
            <a:br>
              <a:rPr lang="hu-HU" dirty="0"/>
            </a:br>
            <a:r>
              <a:rPr lang="hu-HU" dirty="0"/>
              <a:t>tesztelése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/>
              <a:t>Adatbázis ellenőrzése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/>
              <a:t>Hibák javítása</a:t>
            </a:r>
          </a:p>
        </p:txBody>
      </p:sp>
    </p:spTree>
    <p:extLst>
      <p:ext uri="{BB962C8B-B14F-4D97-AF65-F5344CB8AC3E}">
        <p14:creationId xmlns:p14="http://schemas.microsoft.com/office/powerpoint/2010/main" val="31612286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22CE-419F-B50C-CCB2-ADD045971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ím 1">
            <a:extLst>
              <a:ext uri="{FF2B5EF4-FFF2-40B4-BE49-F238E27FC236}">
                <a16:creationId xmlns:a16="http://schemas.microsoft.com/office/drawing/2014/main" id="{CFF7CA05-75F4-4BCC-AE62-2A160F3765F4}"/>
              </a:ext>
            </a:extLst>
          </p:cNvPr>
          <p:cNvSpPr txBox="1">
            <a:spLocks/>
          </p:cNvSpPr>
          <p:nvPr/>
        </p:nvSpPr>
        <p:spPr>
          <a:xfrm>
            <a:off x="3841623" y="451438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2" name="Cím 1">
            <a:extLst>
              <a:ext uri="{FF2B5EF4-FFF2-40B4-BE49-F238E27FC236}">
                <a16:creationId xmlns:a16="http://schemas.microsoft.com/office/drawing/2014/main" id="{7DA154DC-18E8-B448-2870-01037C84B6F9}"/>
              </a:ext>
            </a:extLst>
          </p:cNvPr>
          <p:cNvSpPr txBox="1">
            <a:spLocks/>
          </p:cNvSpPr>
          <p:nvPr/>
        </p:nvSpPr>
        <p:spPr>
          <a:xfrm>
            <a:off x="5603748" y="3093297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3" name="Cím 1">
            <a:extLst>
              <a:ext uri="{FF2B5EF4-FFF2-40B4-BE49-F238E27FC236}">
                <a16:creationId xmlns:a16="http://schemas.microsoft.com/office/drawing/2014/main" id="{E1B850F2-482B-A366-FBBE-0E7E63EAE648}"/>
              </a:ext>
            </a:extLst>
          </p:cNvPr>
          <p:cNvSpPr txBox="1">
            <a:spLocks/>
          </p:cNvSpPr>
          <p:nvPr/>
        </p:nvSpPr>
        <p:spPr>
          <a:xfrm>
            <a:off x="6865211" y="1711207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4" name="Cím 1">
            <a:extLst>
              <a:ext uri="{FF2B5EF4-FFF2-40B4-BE49-F238E27FC236}">
                <a16:creationId xmlns:a16="http://schemas.microsoft.com/office/drawing/2014/main" id="{A3FA9416-4AB1-8DE6-44EA-6E92543FFBA7}"/>
              </a:ext>
            </a:extLst>
          </p:cNvPr>
          <p:cNvSpPr txBox="1">
            <a:spLocks/>
          </p:cNvSpPr>
          <p:nvPr/>
        </p:nvSpPr>
        <p:spPr>
          <a:xfrm>
            <a:off x="8324843" y="356741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0" name="Cím 1">
            <a:extLst>
              <a:ext uri="{FF2B5EF4-FFF2-40B4-BE49-F238E27FC236}">
                <a16:creationId xmlns:a16="http://schemas.microsoft.com/office/drawing/2014/main" id="{EA6A9C87-2FFF-6715-0365-744DDC7382DB}"/>
              </a:ext>
            </a:extLst>
          </p:cNvPr>
          <p:cNvSpPr txBox="1">
            <a:spLocks/>
          </p:cNvSpPr>
          <p:nvPr/>
        </p:nvSpPr>
        <p:spPr>
          <a:xfrm>
            <a:off x="1859891" y="712621"/>
            <a:ext cx="10787353" cy="2236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sz="5400" dirty="0">
              <a:solidFill>
                <a:srgbClr val="FFFFFF"/>
              </a:solidFill>
            </a:endParaRPr>
          </a:p>
        </p:txBody>
      </p:sp>
      <p:sp>
        <p:nvSpPr>
          <p:cNvPr id="25" name="Alcím 2">
            <a:extLst>
              <a:ext uri="{FF2B5EF4-FFF2-40B4-BE49-F238E27FC236}">
                <a16:creationId xmlns:a16="http://schemas.microsoft.com/office/drawing/2014/main" id="{6C9AAE5C-BCEB-0D70-345F-ED192E03DAD4}"/>
              </a:ext>
            </a:extLst>
          </p:cNvPr>
          <p:cNvSpPr txBox="1">
            <a:spLocks/>
          </p:cNvSpPr>
          <p:nvPr/>
        </p:nvSpPr>
        <p:spPr>
          <a:xfrm>
            <a:off x="1859891" y="2714097"/>
            <a:ext cx="1920882" cy="6616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hu-HU" sz="2400" b="1" dirty="0">
              <a:solidFill>
                <a:srgbClr val="FFFFFF"/>
              </a:solidFill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48B64E4-23FE-1188-95A2-23961C68A65E}"/>
              </a:ext>
            </a:extLst>
          </p:cNvPr>
          <p:cNvSpPr txBox="1">
            <a:spLocks/>
          </p:cNvSpPr>
          <p:nvPr/>
        </p:nvSpPr>
        <p:spPr>
          <a:xfrm>
            <a:off x="5656007" y="3024820"/>
            <a:ext cx="4651481" cy="3230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hu-HU" sz="2400" dirty="0">
              <a:solidFill>
                <a:srgbClr val="FFFFFF"/>
              </a:solidFill>
            </a:endParaRP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26B912D1-8A47-69D3-2247-8A1328F5555A}"/>
              </a:ext>
            </a:extLst>
          </p:cNvPr>
          <p:cNvSpPr/>
          <p:nvPr/>
        </p:nvSpPr>
        <p:spPr>
          <a:xfrm>
            <a:off x="5656007" y="1914676"/>
            <a:ext cx="3122069" cy="7198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cap="all" dirty="0"/>
              <a:t>Gyengeségek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796F255D-5ED6-0F09-0C3D-7282824D1479}"/>
              </a:ext>
            </a:extLst>
          </p:cNvPr>
          <p:cNvSpPr/>
          <p:nvPr/>
        </p:nvSpPr>
        <p:spPr>
          <a:xfrm>
            <a:off x="5859491" y="2496319"/>
            <a:ext cx="2512293" cy="7198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cap="all" dirty="0"/>
              <a:t>Erősségek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E9F60190-E958-A0CE-7A48-17358C0D516B}"/>
              </a:ext>
            </a:extLst>
          </p:cNvPr>
          <p:cNvSpPr/>
          <p:nvPr/>
        </p:nvSpPr>
        <p:spPr>
          <a:xfrm>
            <a:off x="2804249" y="1957794"/>
            <a:ext cx="2963279" cy="7198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cap="all" dirty="0"/>
              <a:t>Lehetőségek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941C108-AE66-5234-C576-86CD6FBE8CBF}"/>
              </a:ext>
            </a:extLst>
          </p:cNvPr>
          <p:cNvSpPr/>
          <p:nvPr/>
        </p:nvSpPr>
        <p:spPr>
          <a:xfrm>
            <a:off x="5859492" y="3496370"/>
            <a:ext cx="2512293" cy="7198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cap="all" dirty="0"/>
              <a:t>Veszélyek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0FAF5E09-AB25-741E-A1E9-9B1DD10ABBBF}"/>
              </a:ext>
            </a:extLst>
          </p:cNvPr>
          <p:cNvSpPr/>
          <p:nvPr/>
        </p:nvSpPr>
        <p:spPr>
          <a:xfrm>
            <a:off x="6681031" y="4445902"/>
            <a:ext cx="4080385" cy="1918221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5B67FA00-F433-3A8C-D4EF-AA23D223D49A}"/>
              </a:ext>
            </a:extLst>
          </p:cNvPr>
          <p:cNvSpPr/>
          <p:nvPr/>
        </p:nvSpPr>
        <p:spPr>
          <a:xfrm>
            <a:off x="6681030" y="2164471"/>
            <a:ext cx="4080385" cy="1918221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 14">
            <a:extLst>
              <a:ext uri="{FF2B5EF4-FFF2-40B4-BE49-F238E27FC236}">
                <a16:creationId xmlns:a16="http://schemas.microsoft.com/office/drawing/2014/main" id="{A54F8DAA-D9E8-B714-E62F-DC7343FEAAD4}"/>
              </a:ext>
            </a:extLst>
          </p:cNvPr>
          <p:cNvSpPr/>
          <p:nvPr/>
        </p:nvSpPr>
        <p:spPr>
          <a:xfrm>
            <a:off x="2146718" y="4437328"/>
            <a:ext cx="4080385" cy="1918221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48452BB9-9455-DC2C-2171-9239CFD50AB1}"/>
              </a:ext>
            </a:extLst>
          </p:cNvPr>
          <p:cNvSpPr/>
          <p:nvPr/>
        </p:nvSpPr>
        <p:spPr>
          <a:xfrm>
            <a:off x="2146718" y="2106562"/>
            <a:ext cx="4080385" cy="1918221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Téglalap 16">
            <a:extLst>
              <a:ext uri="{FF2B5EF4-FFF2-40B4-BE49-F238E27FC236}">
                <a16:creationId xmlns:a16="http://schemas.microsoft.com/office/drawing/2014/main" id="{9F7FC53E-16FA-4FCD-2C95-174AEA21072B}"/>
              </a:ext>
            </a:extLst>
          </p:cNvPr>
          <p:cNvSpPr/>
          <p:nvPr/>
        </p:nvSpPr>
        <p:spPr>
          <a:xfrm>
            <a:off x="2911034" y="2693886"/>
            <a:ext cx="2512293" cy="7198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cap="all" dirty="0"/>
              <a:t>Erősségek</a:t>
            </a:r>
          </a:p>
        </p:txBody>
      </p:sp>
      <p:sp>
        <p:nvSpPr>
          <p:cNvPr id="18" name="Téglalap 17">
            <a:extLst>
              <a:ext uri="{FF2B5EF4-FFF2-40B4-BE49-F238E27FC236}">
                <a16:creationId xmlns:a16="http://schemas.microsoft.com/office/drawing/2014/main" id="{9A41D1B4-1298-7314-DBB3-D4A31E670E4D}"/>
              </a:ext>
            </a:extLst>
          </p:cNvPr>
          <p:cNvSpPr/>
          <p:nvPr/>
        </p:nvSpPr>
        <p:spPr>
          <a:xfrm>
            <a:off x="7185419" y="2678206"/>
            <a:ext cx="3122069" cy="7198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cap="all" dirty="0"/>
              <a:t>Gyengeségek</a:t>
            </a:r>
          </a:p>
        </p:txBody>
      </p:sp>
      <p:sp>
        <p:nvSpPr>
          <p:cNvPr id="19" name="Téglalap 18">
            <a:extLst>
              <a:ext uri="{FF2B5EF4-FFF2-40B4-BE49-F238E27FC236}">
                <a16:creationId xmlns:a16="http://schemas.microsoft.com/office/drawing/2014/main" id="{5652CC99-8663-41FF-C7C6-E6000889A94A}"/>
              </a:ext>
            </a:extLst>
          </p:cNvPr>
          <p:cNvSpPr/>
          <p:nvPr/>
        </p:nvSpPr>
        <p:spPr>
          <a:xfrm>
            <a:off x="2693360" y="4909531"/>
            <a:ext cx="2987099" cy="7198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cap="all" dirty="0"/>
              <a:t>Lehetőségek</a:t>
            </a:r>
          </a:p>
        </p:txBody>
      </p:sp>
      <p:sp>
        <p:nvSpPr>
          <p:cNvPr id="26" name="Téglalap 25">
            <a:extLst>
              <a:ext uri="{FF2B5EF4-FFF2-40B4-BE49-F238E27FC236}">
                <a16:creationId xmlns:a16="http://schemas.microsoft.com/office/drawing/2014/main" id="{2F676D86-C24C-5F01-C7B8-11CE8B643C88}"/>
              </a:ext>
            </a:extLst>
          </p:cNvPr>
          <p:cNvSpPr/>
          <p:nvPr/>
        </p:nvSpPr>
        <p:spPr>
          <a:xfrm>
            <a:off x="7376711" y="4909531"/>
            <a:ext cx="2532789" cy="7198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cap="all" dirty="0"/>
              <a:t>Veszélyek</a:t>
            </a:r>
          </a:p>
        </p:txBody>
      </p:sp>
      <p:sp>
        <p:nvSpPr>
          <p:cNvPr id="29" name="Cím 1">
            <a:extLst>
              <a:ext uri="{FF2B5EF4-FFF2-40B4-BE49-F238E27FC236}">
                <a16:creationId xmlns:a16="http://schemas.microsoft.com/office/drawing/2014/main" id="{4595F72D-88A4-86F9-9401-D53A70CAED43}"/>
              </a:ext>
            </a:extLst>
          </p:cNvPr>
          <p:cNvSpPr txBox="1">
            <a:spLocks/>
          </p:cNvSpPr>
          <p:nvPr/>
        </p:nvSpPr>
        <p:spPr>
          <a:xfrm>
            <a:off x="1117271" y="568208"/>
            <a:ext cx="10787353" cy="2236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5400" dirty="0"/>
              <a:t>SWOT ANALÍZIS</a:t>
            </a:r>
          </a:p>
        </p:txBody>
      </p:sp>
    </p:spTree>
    <p:extLst>
      <p:ext uri="{BB962C8B-B14F-4D97-AF65-F5344CB8AC3E}">
        <p14:creationId xmlns:p14="http://schemas.microsoft.com/office/powerpoint/2010/main" val="3609005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04A41-4DEB-2857-D009-A98BFA15F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ím 1">
            <a:extLst>
              <a:ext uri="{FF2B5EF4-FFF2-40B4-BE49-F238E27FC236}">
                <a16:creationId xmlns:a16="http://schemas.microsoft.com/office/drawing/2014/main" id="{DA45F5BF-B6CB-D344-F8A1-E735C0B7ADD3}"/>
              </a:ext>
            </a:extLst>
          </p:cNvPr>
          <p:cNvSpPr txBox="1">
            <a:spLocks/>
          </p:cNvSpPr>
          <p:nvPr/>
        </p:nvSpPr>
        <p:spPr>
          <a:xfrm>
            <a:off x="3841623" y="451438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2" name="Cím 1">
            <a:extLst>
              <a:ext uri="{FF2B5EF4-FFF2-40B4-BE49-F238E27FC236}">
                <a16:creationId xmlns:a16="http://schemas.microsoft.com/office/drawing/2014/main" id="{425FD7A0-01ED-0F3F-448A-3F519C6DB435}"/>
              </a:ext>
            </a:extLst>
          </p:cNvPr>
          <p:cNvSpPr txBox="1">
            <a:spLocks/>
          </p:cNvSpPr>
          <p:nvPr/>
        </p:nvSpPr>
        <p:spPr>
          <a:xfrm>
            <a:off x="5603748" y="3093297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3" name="Cím 1">
            <a:extLst>
              <a:ext uri="{FF2B5EF4-FFF2-40B4-BE49-F238E27FC236}">
                <a16:creationId xmlns:a16="http://schemas.microsoft.com/office/drawing/2014/main" id="{D97BC0C5-9003-735B-E3F8-0A61EB8BD7FC}"/>
              </a:ext>
            </a:extLst>
          </p:cNvPr>
          <p:cNvSpPr txBox="1">
            <a:spLocks/>
          </p:cNvSpPr>
          <p:nvPr/>
        </p:nvSpPr>
        <p:spPr>
          <a:xfrm>
            <a:off x="6865211" y="1711207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4" name="Cím 1">
            <a:extLst>
              <a:ext uri="{FF2B5EF4-FFF2-40B4-BE49-F238E27FC236}">
                <a16:creationId xmlns:a16="http://schemas.microsoft.com/office/drawing/2014/main" id="{FB637C38-769B-D3C2-9A5B-40DB689FA9BA}"/>
              </a:ext>
            </a:extLst>
          </p:cNvPr>
          <p:cNvSpPr txBox="1">
            <a:spLocks/>
          </p:cNvSpPr>
          <p:nvPr/>
        </p:nvSpPr>
        <p:spPr>
          <a:xfrm>
            <a:off x="8324843" y="356741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0" name="Cím 1">
            <a:extLst>
              <a:ext uri="{FF2B5EF4-FFF2-40B4-BE49-F238E27FC236}">
                <a16:creationId xmlns:a16="http://schemas.microsoft.com/office/drawing/2014/main" id="{05AFF953-0BE4-F66E-D56B-487177CCF9AB}"/>
              </a:ext>
            </a:extLst>
          </p:cNvPr>
          <p:cNvSpPr txBox="1">
            <a:spLocks/>
          </p:cNvSpPr>
          <p:nvPr/>
        </p:nvSpPr>
        <p:spPr>
          <a:xfrm>
            <a:off x="1859891" y="712621"/>
            <a:ext cx="10787353" cy="2236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sz="5400" dirty="0">
              <a:solidFill>
                <a:srgbClr val="FFFFFF"/>
              </a:solidFill>
            </a:endParaRPr>
          </a:p>
        </p:txBody>
      </p:sp>
      <p:sp>
        <p:nvSpPr>
          <p:cNvPr id="25" name="Alcím 2">
            <a:extLst>
              <a:ext uri="{FF2B5EF4-FFF2-40B4-BE49-F238E27FC236}">
                <a16:creationId xmlns:a16="http://schemas.microsoft.com/office/drawing/2014/main" id="{472F24CD-3E46-2B31-6BBF-5B0E16992F1D}"/>
              </a:ext>
            </a:extLst>
          </p:cNvPr>
          <p:cNvSpPr txBox="1">
            <a:spLocks/>
          </p:cNvSpPr>
          <p:nvPr/>
        </p:nvSpPr>
        <p:spPr>
          <a:xfrm>
            <a:off x="1859891" y="2714097"/>
            <a:ext cx="1920882" cy="6616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hu-HU" sz="2400" b="1" dirty="0">
              <a:solidFill>
                <a:srgbClr val="FFFFFF"/>
              </a:solidFill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269AEED-1200-D7F1-C4D2-4AE49E26A558}"/>
              </a:ext>
            </a:extLst>
          </p:cNvPr>
          <p:cNvSpPr txBox="1">
            <a:spLocks/>
          </p:cNvSpPr>
          <p:nvPr/>
        </p:nvSpPr>
        <p:spPr>
          <a:xfrm>
            <a:off x="5656007" y="3024820"/>
            <a:ext cx="4651481" cy="3230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hu-HU" sz="2400" dirty="0">
              <a:solidFill>
                <a:srgbClr val="FFFFFF"/>
              </a:solidFill>
            </a:endParaRP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FB3E5877-E7A2-727B-FEBB-F8C0FC46A447}"/>
              </a:ext>
            </a:extLst>
          </p:cNvPr>
          <p:cNvSpPr/>
          <p:nvPr/>
        </p:nvSpPr>
        <p:spPr>
          <a:xfrm>
            <a:off x="5656007" y="1914676"/>
            <a:ext cx="3122069" cy="7198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cap="all" dirty="0"/>
              <a:t>Gyengeségek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47F9FFE7-5E9C-3B80-8C3D-032A6CDBB564}"/>
              </a:ext>
            </a:extLst>
          </p:cNvPr>
          <p:cNvSpPr/>
          <p:nvPr/>
        </p:nvSpPr>
        <p:spPr>
          <a:xfrm>
            <a:off x="5859491" y="2496319"/>
            <a:ext cx="2512293" cy="7198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cap="all" dirty="0"/>
              <a:t>Erősségek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778D48C8-9B24-6B13-A20F-247B0B3C0351}"/>
              </a:ext>
            </a:extLst>
          </p:cNvPr>
          <p:cNvSpPr/>
          <p:nvPr/>
        </p:nvSpPr>
        <p:spPr>
          <a:xfrm>
            <a:off x="2804249" y="1957794"/>
            <a:ext cx="2963279" cy="7198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cap="all" dirty="0"/>
              <a:t>Lehetőségek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0FF87669-9A9C-8E03-BB69-C8CDACD1660C}"/>
              </a:ext>
            </a:extLst>
          </p:cNvPr>
          <p:cNvSpPr/>
          <p:nvPr/>
        </p:nvSpPr>
        <p:spPr>
          <a:xfrm>
            <a:off x="5859492" y="3496370"/>
            <a:ext cx="2512293" cy="7198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cap="all" dirty="0"/>
              <a:t>Veszélyek</a:t>
            </a:r>
          </a:p>
        </p:txBody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1852A1C1-F37C-BD78-B0CA-D0FEC2D53403}"/>
              </a:ext>
            </a:extLst>
          </p:cNvPr>
          <p:cNvSpPr/>
          <p:nvPr/>
        </p:nvSpPr>
        <p:spPr>
          <a:xfrm>
            <a:off x="6799641" y="1216494"/>
            <a:ext cx="5724198" cy="5641506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8727DD59-A75B-0A44-4806-79739D7732C6}"/>
              </a:ext>
            </a:extLst>
          </p:cNvPr>
          <p:cNvSpPr/>
          <p:nvPr/>
        </p:nvSpPr>
        <p:spPr>
          <a:xfrm>
            <a:off x="-471686" y="1211362"/>
            <a:ext cx="6698789" cy="564663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Téglalap 16">
            <a:extLst>
              <a:ext uri="{FF2B5EF4-FFF2-40B4-BE49-F238E27FC236}">
                <a16:creationId xmlns:a16="http://schemas.microsoft.com/office/drawing/2014/main" id="{E5A15E96-C1DD-3335-937A-6FA8C9D05EF2}"/>
              </a:ext>
            </a:extLst>
          </p:cNvPr>
          <p:cNvSpPr/>
          <p:nvPr/>
        </p:nvSpPr>
        <p:spPr>
          <a:xfrm>
            <a:off x="1045974" y="1895411"/>
            <a:ext cx="2512293" cy="7198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cap="all" dirty="0"/>
              <a:t>Erősségek</a:t>
            </a:r>
          </a:p>
        </p:txBody>
      </p:sp>
      <p:sp>
        <p:nvSpPr>
          <p:cNvPr id="18" name="Téglalap 17">
            <a:extLst>
              <a:ext uri="{FF2B5EF4-FFF2-40B4-BE49-F238E27FC236}">
                <a16:creationId xmlns:a16="http://schemas.microsoft.com/office/drawing/2014/main" id="{4343BAD5-D4A4-C0F4-FFCA-A44A16F1CD3F}"/>
              </a:ext>
            </a:extLst>
          </p:cNvPr>
          <p:cNvSpPr/>
          <p:nvPr/>
        </p:nvSpPr>
        <p:spPr>
          <a:xfrm>
            <a:off x="7616169" y="1920968"/>
            <a:ext cx="3122069" cy="7198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cap="all" dirty="0"/>
              <a:t>Gyengeségek</a:t>
            </a:r>
          </a:p>
        </p:txBody>
      </p:sp>
      <p:sp>
        <p:nvSpPr>
          <p:cNvPr id="29" name="Cím 1">
            <a:extLst>
              <a:ext uri="{FF2B5EF4-FFF2-40B4-BE49-F238E27FC236}">
                <a16:creationId xmlns:a16="http://schemas.microsoft.com/office/drawing/2014/main" id="{FC61E85E-3A80-7E94-ED89-C76C5A7BF3D0}"/>
              </a:ext>
            </a:extLst>
          </p:cNvPr>
          <p:cNvSpPr txBox="1">
            <a:spLocks/>
          </p:cNvSpPr>
          <p:nvPr/>
        </p:nvSpPr>
        <p:spPr>
          <a:xfrm>
            <a:off x="1287353" y="166063"/>
            <a:ext cx="10787353" cy="2236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5400" dirty="0"/>
              <a:t>SWOT ANALÍZIS</a:t>
            </a:r>
          </a:p>
        </p:txBody>
      </p:sp>
      <p:sp>
        <p:nvSpPr>
          <p:cNvPr id="2" name="Alcím 2">
            <a:extLst>
              <a:ext uri="{FF2B5EF4-FFF2-40B4-BE49-F238E27FC236}">
                <a16:creationId xmlns:a16="http://schemas.microsoft.com/office/drawing/2014/main" id="{1D1AB7E8-9C15-63E0-2BD1-90F9E811E77F}"/>
              </a:ext>
            </a:extLst>
          </p:cNvPr>
          <p:cNvSpPr txBox="1">
            <a:spLocks/>
          </p:cNvSpPr>
          <p:nvPr/>
        </p:nvSpPr>
        <p:spPr>
          <a:xfrm>
            <a:off x="926802" y="2828097"/>
            <a:ext cx="4651481" cy="3230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2400" dirty="0">
                <a:solidFill>
                  <a:srgbClr val="FFFFFF"/>
                </a:solidFill>
              </a:rPr>
              <a:t>Valós piaci igény</a:t>
            </a:r>
          </a:p>
          <a:p>
            <a:r>
              <a:rPr lang="hu-HU" sz="2400" dirty="0">
                <a:solidFill>
                  <a:srgbClr val="FFFFFF"/>
                </a:solidFill>
              </a:rPr>
              <a:t>Gyakorlati mezőgazdasági tapasztalat</a:t>
            </a:r>
          </a:p>
          <a:p>
            <a:r>
              <a:rPr lang="hu-HU" sz="2400" dirty="0">
                <a:solidFill>
                  <a:srgbClr val="FFFFFF"/>
                </a:solidFill>
              </a:rPr>
              <a:t>Web + mobil elérhetőség</a:t>
            </a:r>
          </a:p>
          <a:p>
            <a:r>
              <a:rPr lang="hu-HU" sz="2400" dirty="0">
                <a:solidFill>
                  <a:srgbClr val="FFFFFF"/>
                </a:solidFill>
              </a:rPr>
              <a:t>Döntéstámogató funkciók</a:t>
            </a:r>
          </a:p>
        </p:txBody>
      </p:sp>
      <p:sp>
        <p:nvSpPr>
          <p:cNvPr id="5" name="Alcím 2">
            <a:extLst>
              <a:ext uri="{FF2B5EF4-FFF2-40B4-BE49-F238E27FC236}">
                <a16:creationId xmlns:a16="http://schemas.microsoft.com/office/drawing/2014/main" id="{C00DABE3-A418-A2BF-321E-BDA1EA3F78CC}"/>
              </a:ext>
            </a:extLst>
          </p:cNvPr>
          <p:cNvSpPr txBox="1">
            <a:spLocks/>
          </p:cNvSpPr>
          <p:nvPr/>
        </p:nvSpPr>
        <p:spPr>
          <a:xfrm>
            <a:off x="7540519" y="2849757"/>
            <a:ext cx="4651481" cy="3230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2400" dirty="0">
                <a:solidFill>
                  <a:srgbClr val="FFFFFF"/>
                </a:solidFill>
              </a:rPr>
              <a:t>Alacsony piaci ismertség</a:t>
            </a:r>
          </a:p>
          <a:p>
            <a:r>
              <a:rPr lang="hu-HU" sz="2400" dirty="0">
                <a:solidFill>
                  <a:srgbClr val="FFFFFF"/>
                </a:solidFill>
              </a:rPr>
              <a:t>Bizalom kiépítése időigényes</a:t>
            </a:r>
          </a:p>
          <a:p>
            <a:r>
              <a:rPr lang="hu-HU" sz="2400" dirty="0">
                <a:solidFill>
                  <a:srgbClr val="FFFFFF"/>
                </a:solidFill>
              </a:rPr>
              <a:t>Korlátozott adatbázis</a:t>
            </a:r>
          </a:p>
          <a:p>
            <a:r>
              <a:rPr lang="hu-HU" sz="2400" dirty="0">
                <a:solidFill>
                  <a:srgbClr val="FFFFFF"/>
                </a:solidFill>
              </a:rPr>
              <a:t>Kis fejlesztői kapacitás</a:t>
            </a:r>
          </a:p>
        </p:txBody>
      </p:sp>
    </p:spTree>
    <p:extLst>
      <p:ext uri="{BB962C8B-B14F-4D97-AF65-F5344CB8AC3E}">
        <p14:creationId xmlns:p14="http://schemas.microsoft.com/office/powerpoint/2010/main" val="40856194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610DB-A876-8F2F-7E7E-DD8737570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ím 1">
            <a:extLst>
              <a:ext uri="{FF2B5EF4-FFF2-40B4-BE49-F238E27FC236}">
                <a16:creationId xmlns:a16="http://schemas.microsoft.com/office/drawing/2014/main" id="{8FB0B7CD-2359-7D52-18F8-7EA3C782E44E}"/>
              </a:ext>
            </a:extLst>
          </p:cNvPr>
          <p:cNvSpPr txBox="1">
            <a:spLocks/>
          </p:cNvSpPr>
          <p:nvPr/>
        </p:nvSpPr>
        <p:spPr>
          <a:xfrm>
            <a:off x="3841623" y="451438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2" name="Cím 1">
            <a:extLst>
              <a:ext uri="{FF2B5EF4-FFF2-40B4-BE49-F238E27FC236}">
                <a16:creationId xmlns:a16="http://schemas.microsoft.com/office/drawing/2014/main" id="{EA49B893-9AD6-8F9F-6C08-73D63C7C54A7}"/>
              </a:ext>
            </a:extLst>
          </p:cNvPr>
          <p:cNvSpPr txBox="1">
            <a:spLocks/>
          </p:cNvSpPr>
          <p:nvPr/>
        </p:nvSpPr>
        <p:spPr>
          <a:xfrm>
            <a:off x="5603748" y="3093297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3" name="Cím 1">
            <a:extLst>
              <a:ext uri="{FF2B5EF4-FFF2-40B4-BE49-F238E27FC236}">
                <a16:creationId xmlns:a16="http://schemas.microsoft.com/office/drawing/2014/main" id="{71FF9AF7-5149-5455-B840-BA5B77DA40BA}"/>
              </a:ext>
            </a:extLst>
          </p:cNvPr>
          <p:cNvSpPr txBox="1">
            <a:spLocks/>
          </p:cNvSpPr>
          <p:nvPr/>
        </p:nvSpPr>
        <p:spPr>
          <a:xfrm>
            <a:off x="6865211" y="1711207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4" name="Cím 1">
            <a:extLst>
              <a:ext uri="{FF2B5EF4-FFF2-40B4-BE49-F238E27FC236}">
                <a16:creationId xmlns:a16="http://schemas.microsoft.com/office/drawing/2014/main" id="{663DB037-EF88-1BE1-0F0D-C531F4BEF105}"/>
              </a:ext>
            </a:extLst>
          </p:cNvPr>
          <p:cNvSpPr txBox="1">
            <a:spLocks/>
          </p:cNvSpPr>
          <p:nvPr/>
        </p:nvSpPr>
        <p:spPr>
          <a:xfrm>
            <a:off x="8324843" y="356741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0" name="Cím 1">
            <a:extLst>
              <a:ext uri="{FF2B5EF4-FFF2-40B4-BE49-F238E27FC236}">
                <a16:creationId xmlns:a16="http://schemas.microsoft.com/office/drawing/2014/main" id="{F315ED73-844B-68B0-C61A-DB2A795A72A4}"/>
              </a:ext>
            </a:extLst>
          </p:cNvPr>
          <p:cNvSpPr txBox="1">
            <a:spLocks/>
          </p:cNvSpPr>
          <p:nvPr/>
        </p:nvSpPr>
        <p:spPr>
          <a:xfrm>
            <a:off x="1859891" y="712621"/>
            <a:ext cx="10787353" cy="2236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sz="5400" dirty="0">
              <a:solidFill>
                <a:srgbClr val="FFFFFF"/>
              </a:solidFill>
            </a:endParaRPr>
          </a:p>
        </p:txBody>
      </p:sp>
      <p:sp>
        <p:nvSpPr>
          <p:cNvPr id="25" name="Alcím 2">
            <a:extLst>
              <a:ext uri="{FF2B5EF4-FFF2-40B4-BE49-F238E27FC236}">
                <a16:creationId xmlns:a16="http://schemas.microsoft.com/office/drawing/2014/main" id="{AC034D77-E27F-3D92-9AFD-46127242F1FA}"/>
              </a:ext>
            </a:extLst>
          </p:cNvPr>
          <p:cNvSpPr txBox="1">
            <a:spLocks/>
          </p:cNvSpPr>
          <p:nvPr/>
        </p:nvSpPr>
        <p:spPr>
          <a:xfrm>
            <a:off x="1859891" y="2714097"/>
            <a:ext cx="1920882" cy="6616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hu-HU" sz="2400" b="1" dirty="0">
              <a:solidFill>
                <a:srgbClr val="FFFFFF"/>
              </a:solidFill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3CE8D9A-D88E-E980-34F0-ACFF8009FA5F}"/>
              </a:ext>
            </a:extLst>
          </p:cNvPr>
          <p:cNvSpPr txBox="1">
            <a:spLocks/>
          </p:cNvSpPr>
          <p:nvPr/>
        </p:nvSpPr>
        <p:spPr>
          <a:xfrm>
            <a:off x="5656007" y="3024820"/>
            <a:ext cx="4651481" cy="3230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hu-HU" sz="2400" dirty="0">
              <a:solidFill>
                <a:srgbClr val="FFFFFF"/>
              </a:solidFill>
            </a:endParaRP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06B78787-4A84-958C-7083-1452D95FBBFC}"/>
              </a:ext>
            </a:extLst>
          </p:cNvPr>
          <p:cNvSpPr/>
          <p:nvPr/>
        </p:nvSpPr>
        <p:spPr>
          <a:xfrm>
            <a:off x="5656007" y="1914676"/>
            <a:ext cx="3122069" cy="7198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cap="all" dirty="0"/>
              <a:t>Gyengeségek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C0D4CDCE-0641-0FC1-9F50-3331766BD6CC}"/>
              </a:ext>
            </a:extLst>
          </p:cNvPr>
          <p:cNvSpPr/>
          <p:nvPr/>
        </p:nvSpPr>
        <p:spPr>
          <a:xfrm>
            <a:off x="5859491" y="2496319"/>
            <a:ext cx="2512293" cy="7198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cap="all" dirty="0"/>
              <a:t>Erősségek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0835CF09-1F6D-FE65-B22C-826397EC166A}"/>
              </a:ext>
            </a:extLst>
          </p:cNvPr>
          <p:cNvSpPr/>
          <p:nvPr/>
        </p:nvSpPr>
        <p:spPr>
          <a:xfrm>
            <a:off x="2804249" y="1957794"/>
            <a:ext cx="2963279" cy="7198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cap="all" dirty="0"/>
              <a:t>Lehetőségek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EA58E900-D27D-3033-B9F9-32A797A1A230}"/>
              </a:ext>
            </a:extLst>
          </p:cNvPr>
          <p:cNvSpPr/>
          <p:nvPr/>
        </p:nvSpPr>
        <p:spPr>
          <a:xfrm>
            <a:off x="5859492" y="3496370"/>
            <a:ext cx="2512293" cy="7198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cap="all" dirty="0"/>
              <a:t>Veszélyek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D20A909E-A8D1-05FA-769E-957089D11DC2}"/>
              </a:ext>
            </a:extLst>
          </p:cNvPr>
          <p:cNvSpPr/>
          <p:nvPr/>
        </p:nvSpPr>
        <p:spPr>
          <a:xfrm>
            <a:off x="6681031" y="1711206"/>
            <a:ext cx="5510969" cy="5146793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 14">
            <a:extLst>
              <a:ext uri="{FF2B5EF4-FFF2-40B4-BE49-F238E27FC236}">
                <a16:creationId xmlns:a16="http://schemas.microsoft.com/office/drawing/2014/main" id="{8E3F5B62-1E85-E516-D8AF-8A56AE3B3E29}"/>
              </a:ext>
            </a:extLst>
          </p:cNvPr>
          <p:cNvSpPr/>
          <p:nvPr/>
        </p:nvSpPr>
        <p:spPr>
          <a:xfrm>
            <a:off x="-90346" y="1711208"/>
            <a:ext cx="6317450" cy="514679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Téglalap 18">
            <a:extLst>
              <a:ext uri="{FF2B5EF4-FFF2-40B4-BE49-F238E27FC236}">
                <a16:creationId xmlns:a16="http://schemas.microsoft.com/office/drawing/2014/main" id="{267D503B-B6B9-783C-0CA3-81728C783006}"/>
              </a:ext>
            </a:extLst>
          </p:cNvPr>
          <p:cNvSpPr/>
          <p:nvPr/>
        </p:nvSpPr>
        <p:spPr>
          <a:xfrm>
            <a:off x="731770" y="2229082"/>
            <a:ext cx="2987099" cy="7198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cap="all" dirty="0"/>
              <a:t>Lehetőségek</a:t>
            </a:r>
          </a:p>
        </p:txBody>
      </p:sp>
      <p:sp>
        <p:nvSpPr>
          <p:cNvPr id="26" name="Téglalap 25">
            <a:extLst>
              <a:ext uri="{FF2B5EF4-FFF2-40B4-BE49-F238E27FC236}">
                <a16:creationId xmlns:a16="http://schemas.microsoft.com/office/drawing/2014/main" id="{E78F00CA-DB8C-A2B6-7FCC-742FD4C8578C}"/>
              </a:ext>
            </a:extLst>
          </p:cNvPr>
          <p:cNvSpPr/>
          <p:nvPr/>
        </p:nvSpPr>
        <p:spPr>
          <a:xfrm>
            <a:off x="7231213" y="2229083"/>
            <a:ext cx="2532789" cy="7198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cap="all" dirty="0"/>
              <a:t>Veszélyek</a:t>
            </a:r>
          </a:p>
        </p:txBody>
      </p:sp>
      <p:sp>
        <p:nvSpPr>
          <p:cNvPr id="29" name="Cím 1">
            <a:extLst>
              <a:ext uri="{FF2B5EF4-FFF2-40B4-BE49-F238E27FC236}">
                <a16:creationId xmlns:a16="http://schemas.microsoft.com/office/drawing/2014/main" id="{0BC2069D-2D22-ECFC-3569-E82A3860B87D}"/>
              </a:ext>
            </a:extLst>
          </p:cNvPr>
          <p:cNvSpPr txBox="1">
            <a:spLocks/>
          </p:cNvSpPr>
          <p:nvPr/>
        </p:nvSpPr>
        <p:spPr>
          <a:xfrm>
            <a:off x="1117271" y="568208"/>
            <a:ext cx="10787353" cy="2236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5400" dirty="0"/>
              <a:t>SWOT ANALÍZIS</a:t>
            </a:r>
          </a:p>
        </p:txBody>
      </p:sp>
      <p:sp>
        <p:nvSpPr>
          <p:cNvPr id="2" name="Alcím 2">
            <a:extLst>
              <a:ext uri="{FF2B5EF4-FFF2-40B4-BE49-F238E27FC236}">
                <a16:creationId xmlns:a16="http://schemas.microsoft.com/office/drawing/2014/main" id="{9640A8F2-4F71-6C7A-B164-032425860756}"/>
              </a:ext>
            </a:extLst>
          </p:cNvPr>
          <p:cNvSpPr txBox="1">
            <a:spLocks/>
          </p:cNvSpPr>
          <p:nvPr/>
        </p:nvSpPr>
        <p:spPr>
          <a:xfrm>
            <a:off x="777562" y="2985385"/>
            <a:ext cx="4651481" cy="3230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2400" dirty="0">
                <a:solidFill>
                  <a:srgbClr val="FFFFFF"/>
                </a:solidFill>
              </a:rPr>
              <a:t>Agrárdigitalizáció terjedése</a:t>
            </a:r>
          </a:p>
          <a:p>
            <a:r>
              <a:rPr lang="hu-HU" sz="2400" dirty="0">
                <a:solidFill>
                  <a:srgbClr val="FFFFFF"/>
                </a:solidFill>
              </a:rPr>
              <a:t>Precíziós gazdálkodás növekedése</a:t>
            </a:r>
          </a:p>
          <a:p>
            <a:r>
              <a:rPr lang="hu-HU" sz="2400" dirty="0">
                <a:solidFill>
                  <a:srgbClr val="FFFFFF"/>
                </a:solidFill>
              </a:rPr>
              <a:t>Állami vagy EU-s támogatások</a:t>
            </a:r>
          </a:p>
          <a:p>
            <a:r>
              <a:rPr lang="hu-HU" sz="2400" dirty="0">
                <a:solidFill>
                  <a:srgbClr val="FFFFFF"/>
                </a:solidFill>
              </a:rPr>
              <a:t>AI és külső adatforrások integrációja</a:t>
            </a:r>
          </a:p>
        </p:txBody>
      </p:sp>
      <p:sp>
        <p:nvSpPr>
          <p:cNvPr id="5" name="Alcím 2">
            <a:extLst>
              <a:ext uri="{FF2B5EF4-FFF2-40B4-BE49-F238E27FC236}">
                <a16:creationId xmlns:a16="http://schemas.microsoft.com/office/drawing/2014/main" id="{DF81F0F0-0503-29BD-F171-D30BD85F2EA2}"/>
              </a:ext>
            </a:extLst>
          </p:cNvPr>
          <p:cNvSpPr txBox="1">
            <a:spLocks/>
          </p:cNvSpPr>
          <p:nvPr/>
        </p:nvSpPr>
        <p:spPr>
          <a:xfrm>
            <a:off x="7355225" y="2994519"/>
            <a:ext cx="4651481" cy="3230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2400" dirty="0">
                <a:solidFill>
                  <a:srgbClr val="FFFFFF"/>
                </a:solidFill>
              </a:rPr>
              <a:t>Nemzetközi versenytársak</a:t>
            </a:r>
          </a:p>
          <a:p>
            <a:r>
              <a:rPr lang="hu-HU" sz="2400" dirty="0">
                <a:solidFill>
                  <a:srgbClr val="FFFFFF"/>
                </a:solidFill>
              </a:rPr>
              <a:t>Pontatlan előrejelzés kockázata</a:t>
            </a:r>
          </a:p>
          <a:p>
            <a:r>
              <a:rPr lang="hu-HU" sz="2400" dirty="0">
                <a:solidFill>
                  <a:srgbClr val="FFFFFF"/>
                </a:solidFill>
              </a:rPr>
              <a:t>Gyors technológiai változás</a:t>
            </a:r>
          </a:p>
          <a:p>
            <a:r>
              <a:rPr lang="hu-HU" sz="2400" dirty="0">
                <a:solidFill>
                  <a:srgbClr val="FFFFFF"/>
                </a:solidFill>
              </a:rPr>
              <a:t>Adatvédelmi követelmények</a:t>
            </a:r>
          </a:p>
        </p:txBody>
      </p:sp>
    </p:spTree>
    <p:extLst>
      <p:ext uri="{BB962C8B-B14F-4D97-AF65-F5344CB8AC3E}">
        <p14:creationId xmlns:p14="http://schemas.microsoft.com/office/powerpoint/2010/main" val="3805036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E1BBE-8D58-84CD-B244-68A9E0DCD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7D41C401-199D-60BE-47C1-D410DF5F7755}"/>
              </a:ext>
            </a:extLst>
          </p:cNvPr>
          <p:cNvSpPr/>
          <p:nvPr/>
        </p:nvSpPr>
        <p:spPr>
          <a:xfrm>
            <a:off x="11246023" y="5486400"/>
            <a:ext cx="1835378" cy="1371600"/>
          </a:xfrm>
          <a:prstGeom prst="roundRect">
            <a:avLst>
              <a:gd name="adj" fmla="val 27966"/>
            </a:avLst>
          </a:prstGeom>
          <a:solidFill>
            <a:srgbClr val="2E7D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Téglalap: lekerekített 16">
            <a:extLst>
              <a:ext uri="{FF2B5EF4-FFF2-40B4-BE49-F238E27FC236}">
                <a16:creationId xmlns:a16="http://schemas.microsoft.com/office/drawing/2014/main" id="{3BABC7A8-6C7D-9B80-02C0-4B63D872B3F7}"/>
              </a:ext>
            </a:extLst>
          </p:cNvPr>
          <p:cNvSpPr/>
          <p:nvPr/>
        </p:nvSpPr>
        <p:spPr>
          <a:xfrm>
            <a:off x="11246023" y="4114800"/>
            <a:ext cx="1701979" cy="1371600"/>
          </a:xfrm>
          <a:prstGeom prst="roundRect">
            <a:avLst>
              <a:gd name="adj" fmla="val 27966"/>
            </a:avLst>
          </a:prstGeom>
          <a:solidFill>
            <a:srgbClr val="8BC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CD9585BA-DF7B-5AAC-0A5A-68A0F4F1ABE2}"/>
              </a:ext>
            </a:extLst>
          </p:cNvPr>
          <p:cNvSpPr/>
          <p:nvPr/>
        </p:nvSpPr>
        <p:spPr>
          <a:xfrm>
            <a:off x="11246023" y="2762979"/>
            <a:ext cx="1537054" cy="1371600"/>
          </a:xfrm>
          <a:prstGeom prst="roundRect">
            <a:avLst>
              <a:gd name="adj" fmla="val 27966"/>
            </a:avLst>
          </a:prstGeom>
          <a:solidFill>
            <a:srgbClr val="7955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Téglalap: lekerekített 18">
            <a:extLst>
              <a:ext uri="{FF2B5EF4-FFF2-40B4-BE49-F238E27FC236}">
                <a16:creationId xmlns:a16="http://schemas.microsoft.com/office/drawing/2014/main" id="{92C6E699-F797-ED55-08FA-DDB366FDE144}"/>
              </a:ext>
            </a:extLst>
          </p:cNvPr>
          <p:cNvSpPr/>
          <p:nvPr/>
        </p:nvSpPr>
        <p:spPr>
          <a:xfrm>
            <a:off x="11246023" y="1371600"/>
            <a:ext cx="1537054" cy="1371600"/>
          </a:xfrm>
          <a:prstGeom prst="roundRect">
            <a:avLst>
              <a:gd name="adj" fmla="val 27966"/>
            </a:avLst>
          </a:prstGeom>
          <a:solidFill>
            <a:srgbClr val="CBC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5" name="Téglalap: lekerekített 14">
            <a:extLst>
              <a:ext uri="{FF2B5EF4-FFF2-40B4-BE49-F238E27FC236}">
                <a16:creationId xmlns:a16="http://schemas.microsoft.com/office/drawing/2014/main" id="{1D14896C-528C-002A-CADE-9534F6E6F1D5}"/>
              </a:ext>
            </a:extLst>
          </p:cNvPr>
          <p:cNvSpPr/>
          <p:nvPr/>
        </p:nvSpPr>
        <p:spPr>
          <a:xfrm>
            <a:off x="11246023" y="-90156"/>
            <a:ext cx="1772082" cy="1411949"/>
          </a:xfrm>
          <a:prstGeom prst="roundRect">
            <a:avLst>
              <a:gd name="adj" fmla="val 27966"/>
            </a:avLst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1" name="Cím 1">
            <a:extLst>
              <a:ext uri="{FF2B5EF4-FFF2-40B4-BE49-F238E27FC236}">
                <a16:creationId xmlns:a16="http://schemas.microsoft.com/office/drawing/2014/main" id="{E0BF7A04-6E28-82E6-6FA1-A9B85DD5EC3B}"/>
              </a:ext>
            </a:extLst>
          </p:cNvPr>
          <p:cNvSpPr txBox="1">
            <a:spLocks/>
          </p:cNvSpPr>
          <p:nvPr/>
        </p:nvSpPr>
        <p:spPr>
          <a:xfrm>
            <a:off x="3841623" y="451438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2" name="Cím 1">
            <a:extLst>
              <a:ext uri="{FF2B5EF4-FFF2-40B4-BE49-F238E27FC236}">
                <a16:creationId xmlns:a16="http://schemas.microsoft.com/office/drawing/2014/main" id="{78E9A072-E0C3-5598-4203-6FA23DE5D063}"/>
              </a:ext>
            </a:extLst>
          </p:cNvPr>
          <p:cNvSpPr txBox="1">
            <a:spLocks/>
          </p:cNvSpPr>
          <p:nvPr/>
        </p:nvSpPr>
        <p:spPr>
          <a:xfrm>
            <a:off x="5603748" y="3093297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3" name="Cím 1">
            <a:extLst>
              <a:ext uri="{FF2B5EF4-FFF2-40B4-BE49-F238E27FC236}">
                <a16:creationId xmlns:a16="http://schemas.microsoft.com/office/drawing/2014/main" id="{F5D0A03C-2618-8ABF-1123-EF4FA34FE085}"/>
              </a:ext>
            </a:extLst>
          </p:cNvPr>
          <p:cNvSpPr txBox="1">
            <a:spLocks/>
          </p:cNvSpPr>
          <p:nvPr/>
        </p:nvSpPr>
        <p:spPr>
          <a:xfrm>
            <a:off x="6865211" y="1711207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24" name="Cím 1">
            <a:extLst>
              <a:ext uri="{FF2B5EF4-FFF2-40B4-BE49-F238E27FC236}">
                <a16:creationId xmlns:a16="http://schemas.microsoft.com/office/drawing/2014/main" id="{1F5303C2-8357-F922-E315-5F9E4EC8B90E}"/>
              </a:ext>
            </a:extLst>
          </p:cNvPr>
          <p:cNvSpPr txBox="1">
            <a:spLocks/>
          </p:cNvSpPr>
          <p:nvPr/>
        </p:nvSpPr>
        <p:spPr>
          <a:xfrm>
            <a:off x="8324843" y="356741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4" name="Ellipszis 3">
            <a:extLst>
              <a:ext uri="{FF2B5EF4-FFF2-40B4-BE49-F238E27FC236}">
                <a16:creationId xmlns:a16="http://schemas.microsoft.com/office/drawing/2014/main" id="{11530A6D-9850-A63D-6E7B-EE3F094FAA6A}"/>
              </a:ext>
            </a:extLst>
          </p:cNvPr>
          <p:cNvSpPr/>
          <p:nvPr/>
        </p:nvSpPr>
        <p:spPr>
          <a:xfrm>
            <a:off x="-2706310" y="-1617592"/>
            <a:ext cx="17078221" cy="10554036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9ECC3A55-7A6D-7CB3-72E8-C1E3CCB4D0E2}"/>
              </a:ext>
            </a:extLst>
          </p:cNvPr>
          <p:cNvSpPr txBox="1">
            <a:spLocks/>
          </p:cNvSpPr>
          <p:nvPr/>
        </p:nvSpPr>
        <p:spPr>
          <a:xfrm>
            <a:off x="863541" y="656268"/>
            <a:ext cx="10787353" cy="2236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5400" dirty="0">
                <a:solidFill>
                  <a:srgbClr val="FFFFFF"/>
                </a:solidFill>
              </a:rPr>
              <a:t>Továbbfejlesztési lehetőségek</a:t>
            </a:r>
          </a:p>
        </p:txBody>
      </p:sp>
      <p:sp>
        <p:nvSpPr>
          <p:cNvPr id="6" name="Alcím 2">
            <a:extLst>
              <a:ext uri="{FF2B5EF4-FFF2-40B4-BE49-F238E27FC236}">
                <a16:creationId xmlns:a16="http://schemas.microsoft.com/office/drawing/2014/main" id="{253D39ED-57C7-EEDC-D9E2-BAADE40E1806}"/>
              </a:ext>
            </a:extLst>
          </p:cNvPr>
          <p:cNvSpPr txBox="1">
            <a:spLocks/>
          </p:cNvSpPr>
          <p:nvPr/>
        </p:nvSpPr>
        <p:spPr>
          <a:xfrm>
            <a:off x="952267" y="1935896"/>
            <a:ext cx="4651481" cy="3230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2400" dirty="0">
                <a:solidFill>
                  <a:srgbClr val="FFFFFF"/>
                </a:solidFill>
              </a:rPr>
              <a:t>Terjeszkedés külföldre egész Európa területén</a:t>
            </a:r>
          </a:p>
          <a:p>
            <a:r>
              <a:rPr lang="hu-HU" sz="2400" dirty="0">
                <a:solidFill>
                  <a:srgbClr val="FFFFFF"/>
                </a:solidFill>
              </a:rPr>
              <a:t>Kultúrák bővítése</a:t>
            </a:r>
          </a:p>
          <a:p>
            <a:r>
              <a:rPr lang="hu-HU" sz="2400" dirty="0">
                <a:solidFill>
                  <a:srgbClr val="FFFFFF"/>
                </a:solidFill>
              </a:rPr>
              <a:t>Más művelési ágak bevezetése</a:t>
            </a:r>
          </a:p>
          <a:p>
            <a:r>
              <a:rPr lang="hu-HU" sz="2400" dirty="0">
                <a:solidFill>
                  <a:srgbClr val="FFFFFF"/>
                </a:solidFill>
              </a:rPr>
              <a:t>Statisztikák, diagramok</a:t>
            </a:r>
          </a:p>
        </p:txBody>
      </p:sp>
      <p:pic>
        <p:nvPicPr>
          <p:cNvPr id="9" name="Tartalom helye 3">
            <a:extLst>
              <a:ext uri="{FF2B5EF4-FFF2-40B4-BE49-F238E27FC236}">
                <a16:creationId xmlns:a16="http://schemas.microsoft.com/office/drawing/2014/main" id="{12139CA1-0C56-6038-896B-5A595FDAD2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58496" y="2107974"/>
            <a:ext cx="4355344" cy="29035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253639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5BCE89-B05F-58E2-FC90-BDC7C7937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695AA56B-A3D4-4E1B-F254-E2195CCB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Kép 24" descr="A képen kültéri, táj, felhő, é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851DA543-7164-A412-D01B-70DC82CCE2C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2201" b="3529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25F4E60B-83BF-9B70-8ED6-43B4C17715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8239953" cy="2236264"/>
          </a:xfrm>
        </p:spPr>
        <p:txBody>
          <a:bodyPr>
            <a:normAutofit/>
          </a:bodyPr>
          <a:lstStyle/>
          <a:p>
            <a:r>
              <a:rPr lang="hu-HU" sz="5400" dirty="0">
                <a:solidFill>
                  <a:srgbClr val="FFFFFF"/>
                </a:solidFill>
              </a:rPr>
              <a:t>Köszönjük a figyelmet!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4362170-725F-66B1-6D53-80F3EF2493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414091"/>
          </a:xfrm>
        </p:spPr>
        <p:txBody>
          <a:bodyPr>
            <a:normAutofit/>
          </a:bodyPr>
          <a:lstStyle/>
          <a:p>
            <a:endParaRPr lang="hu-HU" sz="2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48083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696</TotalTime>
  <Words>468</Words>
  <Application>Microsoft Office PowerPoint</Application>
  <PresentationFormat>Szélesvásznú</PresentationFormat>
  <Paragraphs>152</Paragraphs>
  <Slides>33</Slides>
  <Notes>5</Notes>
  <HiddenSlides>0</HiddenSlides>
  <MMClips>1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33</vt:i4>
      </vt:variant>
    </vt:vector>
  </HeadingPairs>
  <TitlesOfParts>
    <vt:vector size="38" baseType="lpstr">
      <vt:lpstr>Arial</vt:lpstr>
      <vt:lpstr>Calibri</vt:lpstr>
      <vt:lpstr>Neue Haas Grotesk Text Pro</vt:lpstr>
      <vt:lpstr>Neue Haas Grotesk Text Pro (Címsorok)</vt:lpstr>
      <vt:lpstr>VanillaVTI</vt:lpstr>
      <vt:lpstr>MEHOSZ</vt:lpstr>
      <vt:lpstr>Probléma meghatározása </vt:lpstr>
      <vt:lpstr>Mezőgazdasági hozamszámító </vt:lpstr>
      <vt:lpstr>Felhasznált technológiák </vt:lpstr>
      <vt:lpstr>Fejlesztési környezetek </vt:lpstr>
      <vt:lpstr>Fejlesztési környezetek </vt:lpstr>
      <vt:lpstr>Fejlesztési környezetek </vt:lpstr>
      <vt:lpstr>Fejlesztési környezetek </vt:lpstr>
      <vt:lpstr>A projektünk funkciói</vt:lpstr>
      <vt:lpstr>A projektünk funkciói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MEHOSZ</dc:title>
  <dc:creator>Máté Koszta</dc:creator>
  <cp:lastModifiedBy>T11G</cp:lastModifiedBy>
  <cp:revision>158</cp:revision>
  <dcterms:created xsi:type="dcterms:W3CDTF">2026-01-21T18:24:55Z</dcterms:created>
  <dcterms:modified xsi:type="dcterms:W3CDTF">2026-03-17T10:27:48Z</dcterms:modified>
</cp:coreProperties>
</file>